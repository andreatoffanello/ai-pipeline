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02"/>
    <p:restoredTop sz="94610"/>
  </p:normalViewPr>
  <p:slideViewPr>
    <p:cSldViewPr snapToGrid="0" snapToObjects="1">
      <p:cViewPr>
        <p:scale>
          <a:sx n="187" d="100"/>
          <a:sy n="187" d="100"/>
        </p:scale>
        <p:origin x="53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2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ethink Sa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think Sans" pitchFamily="2" charset="77"/>
              </a:rPr>
              <a:t>1</a:t>
            </a:fld>
            <a:endParaRPr lang="en-US">
              <a:latin typeface="Rethin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ethink Sa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think Sans" pitchFamily="2" charset="77"/>
              </a:rPr>
              <a:t>2</a:t>
            </a:fld>
            <a:endParaRPr lang="en-US">
              <a:latin typeface="Rethin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ethink Sa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think Sans" pitchFamily="2" charset="77"/>
              </a:rPr>
              <a:t>3</a:t>
            </a:fld>
            <a:endParaRPr lang="en-US">
              <a:latin typeface="Rethin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ethink Sa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think Sans" pitchFamily="2" charset="77"/>
              </a:rPr>
              <a:t>4</a:t>
            </a:fld>
            <a:endParaRPr lang="en-US">
              <a:latin typeface="Rethin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ethink Sa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think Sans" pitchFamily="2" charset="77"/>
              </a:rPr>
              <a:t>5</a:t>
            </a:fld>
            <a:endParaRPr lang="en-US">
              <a:latin typeface="Rethin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ethink Sa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think Sans" pitchFamily="2" charset="77"/>
              </a:rPr>
              <a:t>6</a:t>
            </a:fld>
            <a:endParaRPr lang="en-US">
              <a:latin typeface="Rethin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ethink Sa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think Sans" pitchFamily="2" charset="77"/>
              </a:rPr>
              <a:t>7</a:t>
            </a:fld>
            <a:endParaRPr lang="en-US">
              <a:latin typeface="Rethin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ethink Sa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think Sans" pitchFamily="2" charset="77"/>
              </a:rPr>
              <a:t>8</a:t>
            </a:fld>
            <a:endParaRPr lang="en-US">
              <a:latin typeface="Rethin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ethink Sa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think Sans" pitchFamily="2" charset="77"/>
              </a:rPr>
              <a:t>9</a:t>
            </a:fld>
            <a:endParaRPr lang="en-US">
              <a:latin typeface="Rethin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ethink Sa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think Sans" pitchFamily="2" charset="77"/>
              </a:rPr>
              <a:t>10</a:t>
            </a:fld>
            <a:endParaRPr lang="en-US">
              <a:latin typeface="Rethin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ethink Sa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think Sans" pitchFamily="2" charset="77"/>
              </a:rPr>
              <a:t>11</a:t>
            </a:fld>
            <a:endParaRPr lang="en-US">
              <a:latin typeface="Rethin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ethink Sa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ethink Sans" pitchFamily="2" charset="77"/>
              </a:rPr>
              <a:t>12</a:t>
            </a:fld>
            <a:endParaRPr lang="en-US">
              <a:latin typeface="Rethin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D2D2D"/>
                </a:solidFill>
                <a:latin typeface="Rethink Sans ExtraBold" pitchFamily="2" charset="77"/>
                <a:ea typeface="Georgia" pitchFamily="34" charset="-122"/>
                <a:cs typeface="Georgia" pitchFamily="34" charset="-120"/>
              </a:rPr>
              <a:t>AI Pipeline</a:t>
            </a:r>
            <a:endParaRPr lang="en-US" sz="4400" b="1" dirty="0">
              <a:latin typeface="Rethink Sans ExtraBold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600" dirty="0">
              <a:latin typeface="Rethink Sans" pitchFamily="2" charset="77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for software development</a:t>
            </a:r>
            <a:endParaRPr lang="en-US" sz="1600" dirty="0">
              <a:latin typeface="Rethink Sans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3154680"/>
            <a:ext cx="164592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Bash orchestrator  ·  Claude CLI  ·  File-based gates</a:t>
            </a:r>
            <a:endParaRPr lang="en-US" sz="1000" dirty="0">
              <a:latin typeface="Rethink Sans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Rethink Sans ExtraBold" pitchFamily="2" charset="77"/>
                <a:ea typeface="Georgia" pitchFamily="34" charset="-122"/>
                <a:cs typeface="Georgia" pitchFamily="34" charset="-120"/>
              </a:rPr>
              <a:t>Idea centrale</a:t>
            </a:r>
            <a:endParaRPr lang="en-US" sz="2800" b="1" dirty="0">
              <a:latin typeface="Rethink Sans ExtraBold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Un orchestratore bash che esegue in sequenza agenti Claude, ciascuno in una sessione indipendente. Ogni agente produce un artefatto su disco; l'agente successivo lo legge, lo valida e decide se approvare o rigettare.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68096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Principi architetturali</a:t>
            </a:r>
            <a:endParaRPr lang="en-US" sz="1400" dirty="0">
              <a:latin typeface="Rethink Sans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532888"/>
            <a:ext cx="329184" cy="329184"/>
          </a:xfrm>
          <a:prstGeom prst="line">
            <a:avLst/>
          </a:prstGeom>
          <a:solidFill>
            <a:srgbClr val="E8E5E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40" y="2605308"/>
            <a:ext cx="184343" cy="184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514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Sessioni stateless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34440" y="27340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Ogni step apre un processo claude -p isolato. Nessuna memoria condivisa tra agenti.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234440" y="3063240"/>
            <a:ext cx="717804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3172968"/>
            <a:ext cx="329184" cy="329184"/>
          </a:xfrm>
          <a:prstGeom prst="line">
            <a:avLst/>
          </a:prstGeom>
          <a:solidFill>
            <a:srgbClr val="E8E5E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40" y="3245388"/>
            <a:ext cx="184343" cy="184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3154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Contesto via filesystem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234440" y="33741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Il contesto si passa attraverso file su disco: specs/, reviews/, qa/. Ogni prompt dice all'agente cosa leggere.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1234440" y="3703320"/>
            <a:ext cx="717804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3813048"/>
            <a:ext cx="329184" cy="329184"/>
          </a:xfrm>
          <a:prstGeom prst="line">
            <a:avLst/>
          </a:prstGeom>
          <a:solidFill>
            <a:srgbClr val="E8E5E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40" y="3885468"/>
            <a:ext cx="184343" cy="1843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794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Gate deterministici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234440" y="40142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File .verdict con APPROVED/REJECTED. Se malformato o assente → MISSING (fail-safe).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1234440" y="4343400"/>
            <a:ext cx="717804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22" name="Shape 17"/>
          <p:cNvSpPr/>
          <p:nvPr/>
        </p:nvSpPr>
        <p:spPr>
          <a:xfrm>
            <a:off x="731520" y="4453128"/>
            <a:ext cx="329184" cy="329184"/>
          </a:xfrm>
          <a:prstGeom prst="line">
            <a:avLst/>
          </a:prstGeom>
          <a:solidFill>
            <a:srgbClr val="E8E5E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40" y="4525548"/>
            <a:ext cx="184343" cy="18434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4434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Reject loops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234440" y="46542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Se un gate rigetta, il pipeline riesegue lo step correttivo iniettando il feedback della review nel prompt.</a:t>
            </a:r>
            <a:endParaRPr lang="en-US" sz="1000" dirty="0">
              <a:latin typeface="Rethink Sans" pitchFamily="2" charset="7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Rethink Sans ExtraBold" pitchFamily="2" charset="77"/>
                <a:ea typeface="Georgia" pitchFamily="34" charset="-122"/>
                <a:cs typeface="Georgia" pitchFamily="34" charset="-120"/>
              </a:rPr>
              <a:t>I cinque agenti</a:t>
            </a:r>
            <a:endParaRPr lang="en-US" sz="2800" b="1" dirty="0">
              <a:latin typeface="Rethink Sans ExtraBold" pitchFamily="2" charset="77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9786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13831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PM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Scrive la specifica funzionale completa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2286000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Arial" panose="020B0604020202020204" pitchFamily="34" charset="0"/>
              </a:rPr>
              <a:t>specs/${FEATURE}.md</a:t>
            </a:r>
            <a:endParaRPr lang="en-US" sz="850" dirty="0">
              <a:latin typeface="Monaspace Neon" pitchFamily="2" charset="77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0" y="11430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>
              <a:latin typeface="Rethink Sans" pitchFamily="2" charset="7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0" y="1719072"/>
            <a:ext cx="7680960" cy="7315"/>
          </a:xfrm>
          <a:prstGeom prst="rect">
            <a:avLst/>
          </a:prstGeom>
          <a:solidFill>
            <a:srgbClr val="D4D0C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1109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927063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8157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DR-SPEC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286000" y="18562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Valida la specifica: completezza, chiarezza, consistenza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286000" y="2084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reviews/${FEATURE}-spec.md</a:t>
            </a:r>
            <a:endParaRPr lang="en-US" sz="850" dirty="0">
              <a:latin typeface="Monaspace Neon" pitchFamily="2" charset="7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943600" y="1856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8157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Gate</a:t>
            </a:r>
            <a:endParaRPr lang="en-US" sz="900" dirty="0">
              <a:latin typeface="Rethink Sans" pitchFamily="2" charset="7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583680" y="1856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4749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on reject → PM</a:t>
            </a:r>
            <a:endParaRPr lang="en-US" sz="900" dirty="0">
              <a:latin typeface="Rethink Sans" pitchFamily="2" charset="7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31520" y="2432304"/>
            <a:ext cx="7680960" cy="7315"/>
          </a:xfrm>
          <a:prstGeom prst="rect">
            <a:avLst/>
          </a:prstGeom>
          <a:solidFill>
            <a:srgbClr val="D4D0C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62432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64029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17817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DEV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2286000" y="25694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Implementa la feature seguendo la spec approvata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2286000" y="2798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codice nel progetto</a:t>
            </a:r>
            <a:endParaRPr lang="en-US" sz="850" dirty="0">
              <a:latin typeface="Monaspace Neon" pitchFamily="2" charset="7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943600" y="25694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>
              <a:latin typeface="Rethink Sans" pitchFamily="2" charset="77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31520" y="3145536"/>
            <a:ext cx="7680960" cy="7315"/>
          </a:xfrm>
          <a:prstGeom prst="rect">
            <a:avLst/>
          </a:prstGeom>
          <a:solidFill>
            <a:srgbClr val="D4D0CB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33756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3353527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7B7B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DR-IMPL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2286000" y="32826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Verifica che il codice rispetti la specifica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2286000" y="35112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reviews/${FEATURE}-impl.md</a:t>
            </a:r>
            <a:endParaRPr lang="en-US" sz="850" dirty="0">
              <a:latin typeface="Monaspace Neon" pitchFamily="2" charset="77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5943600" y="32826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8157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Gate</a:t>
            </a:r>
            <a:endParaRPr lang="en-US" sz="900" dirty="0">
              <a:latin typeface="Rethink Sans" pitchFamily="2" charset="7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583680" y="3282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4749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on reject → DEV</a:t>
            </a:r>
            <a:endParaRPr lang="en-US" sz="900" dirty="0">
              <a:latin typeface="Rethink Sans" pitchFamily="2" charset="77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731520" y="3858768"/>
            <a:ext cx="7680960" cy="7315"/>
          </a:xfrm>
          <a:prstGeom prst="rect">
            <a:avLst/>
          </a:prstGeom>
          <a:solidFill>
            <a:srgbClr val="D4D0CB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050792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97280" y="4066759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C4749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QA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2286000" y="3995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Testa ogni criterio di accettazione: PASS / FAIL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2286000" y="4224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qa/${FEATURE}-qa.md</a:t>
            </a:r>
            <a:endParaRPr lang="en-US" sz="850" dirty="0">
              <a:latin typeface="Monaspace Neon" pitchFamily="2" charset="77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5943600" y="39959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8157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Gate</a:t>
            </a:r>
            <a:endParaRPr lang="en-US" sz="900" dirty="0">
              <a:latin typeface="Rethink Sans" pitchFamily="2" charset="77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6583680" y="3995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C4749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on reject → DEV</a:t>
            </a:r>
            <a:endParaRPr lang="en-US" sz="900" dirty="0">
              <a:latin typeface="Rethink Sans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Rethink Sans ExtraBold" pitchFamily="2" charset="77"/>
                <a:ea typeface="Georgia" pitchFamily="34" charset="-122"/>
                <a:cs typeface="Georgia" pitchFamily="34" charset="-120"/>
              </a:rPr>
              <a:t>Pipeline flow</a:t>
            </a:r>
            <a:endParaRPr lang="en-US" sz="2800" b="1" dirty="0">
              <a:latin typeface="Rethink Sans ExtraBold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Flusso lineare con reject loops. Ogni gate puo far tornare il flusso allo step correttivo.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43000" cy="41148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01368"/>
            <a:ext cx="114300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A80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PM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18488" y="14721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D0C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Rethink Sans" pitchFamily="2" charset="7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91640" y="1417320"/>
            <a:ext cx="1143000" cy="41148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0" name="Shape 8"/>
          <p:cNvSpPr/>
          <p:nvPr/>
        </p:nvSpPr>
        <p:spPr>
          <a:xfrm>
            <a:off x="1691640" y="1801368"/>
            <a:ext cx="1143000" cy="27432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1463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88157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DR-SPEC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52928" y="14721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D0C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Rethink Sans" pitchFamily="2" charset="7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26080" y="1417320"/>
            <a:ext cx="1143000" cy="41148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6080" y="1801368"/>
            <a:ext cx="1143000" cy="27432"/>
          </a:xfrm>
          <a:prstGeom prst="rect">
            <a:avLst/>
          </a:prstGeom>
          <a:solidFill>
            <a:srgbClr val="C17817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1463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17817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DEV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87368" y="14721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D0C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Rethink Sans" pitchFamily="2" charset="7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60520" y="1417320"/>
            <a:ext cx="1143000" cy="41148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18" name="Shape 16"/>
          <p:cNvSpPr/>
          <p:nvPr/>
        </p:nvSpPr>
        <p:spPr>
          <a:xfrm>
            <a:off x="4160520" y="1801368"/>
            <a:ext cx="1143000" cy="27432"/>
          </a:xfrm>
          <a:prstGeom prst="rect">
            <a:avLst/>
          </a:prstGeom>
          <a:solidFill>
            <a:srgbClr val="457B7B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1463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7B7B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DR-IMPL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21808" y="14721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D0C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Rethink Sans" pitchFamily="2" charset="7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94960" y="1417320"/>
            <a:ext cx="1143000" cy="41148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22" name="Shape 20"/>
          <p:cNvSpPr/>
          <p:nvPr/>
        </p:nvSpPr>
        <p:spPr>
          <a:xfrm>
            <a:off x="5394960" y="1801368"/>
            <a:ext cx="1143000" cy="27432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1463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C4749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QA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56248" y="14721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D0C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Rethink Sans" pitchFamily="2" charset="7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629400" y="1417320"/>
            <a:ext cx="1143000" cy="411480"/>
          </a:xfrm>
          <a:prstGeom prst="rect">
            <a:avLst/>
          </a:prstGeom>
          <a:solidFill>
            <a:srgbClr val="E8E5E0"/>
          </a:solidFill>
          <a:ln/>
        </p:spPr>
      </p:sp>
      <p:sp>
        <p:nvSpPr>
          <p:cNvPr id="26" name="Shape 24"/>
          <p:cNvSpPr/>
          <p:nvPr/>
        </p:nvSpPr>
        <p:spPr>
          <a:xfrm>
            <a:off x="6629400" y="1801368"/>
            <a:ext cx="1143000" cy="27432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1463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DONE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984248" y="1965960"/>
            <a:ext cx="7315" cy="320040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" y="2276856"/>
            <a:ext cx="1243584" cy="7315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" y="2002536"/>
            <a:ext cx="7315" cy="283464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1856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8157"/>
                </a:solidFill>
                <a:latin typeface="Rethink Sans" pitchFamily="2" charset="77"/>
              </a:rPr>
              <a:t>↑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05840" y="20756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88157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REJECTED</a:t>
            </a:r>
            <a:endParaRPr lang="en-US" sz="700" dirty="0">
              <a:latin typeface="Rethink Sans" pitchFamily="2" charset="7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453128" y="1965960"/>
            <a:ext cx="7315" cy="822960"/>
          </a:xfrm>
          <a:prstGeom prst="rect">
            <a:avLst/>
          </a:prstGeom>
          <a:solidFill>
            <a:srgbClr val="457B7B"/>
          </a:solidFill>
          <a:ln/>
        </p:spPr>
      </p:sp>
      <p:sp>
        <p:nvSpPr>
          <p:cNvPr id="34" name="Shape 32"/>
          <p:cNvSpPr/>
          <p:nvPr/>
        </p:nvSpPr>
        <p:spPr>
          <a:xfrm>
            <a:off x="3218688" y="2779776"/>
            <a:ext cx="1243584" cy="7315"/>
          </a:xfrm>
          <a:prstGeom prst="rect">
            <a:avLst/>
          </a:prstGeom>
          <a:solidFill>
            <a:srgbClr val="457B7B"/>
          </a:solidFill>
          <a:ln/>
        </p:spPr>
      </p:sp>
      <p:sp>
        <p:nvSpPr>
          <p:cNvPr id="35" name="Shape 33"/>
          <p:cNvSpPr/>
          <p:nvPr/>
        </p:nvSpPr>
        <p:spPr>
          <a:xfrm>
            <a:off x="3218688" y="2002536"/>
            <a:ext cx="7315" cy="786384"/>
          </a:xfrm>
          <a:prstGeom prst="rect">
            <a:avLst/>
          </a:prstGeom>
          <a:solidFill>
            <a:srgbClr val="457B7B"/>
          </a:solidFill>
          <a:ln/>
        </p:spPr>
      </p:sp>
      <p:sp>
        <p:nvSpPr>
          <p:cNvPr id="36" name="Text 34"/>
          <p:cNvSpPr/>
          <p:nvPr/>
        </p:nvSpPr>
        <p:spPr>
          <a:xfrm>
            <a:off x="3108960" y="1856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7B7B"/>
                </a:solidFill>
                <a:latin typeface="Rethink Sans" pitchFamily="2" charset="77"/>
              </a:rPr>
              <a:t>↑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474720" y="2578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57B7B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REJECTED</a:t>
            </a:r>
            <a:endParaRPr lang="en-US" sz="700" dirty="0">
              <a:latin typeface="Rethink Sans" pitchFamily="2" charset="7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687568" y="1965960"/>
            <a:ext cx="7315" cy="1325880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39" name="Shape 37"/>
          <p:cNvSpPr/>
          <p:nvPr/>
        </p:nvSpPr>
        <p:spPr>
          <a:xfrm>
            <a:off x="3493008" y="3282696"/>
            <a:ext cx="2203704" cy="7315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40" name="Shape 38"/>
          <p:cNvSpPr/>
          <p:nvPr/>
        </p:nvSpPr>
        <p:spPr>
          <a:xfrm>
            <a:off x="3493008" y="2002536"/>
            <a:ext cx="7315" cy="1289304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0" y="1856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C4749"/>
                </a:solidFill>
                <a:latin typeface="Rethink Sans" pitchFamily="2" charset="77"/>
              </a:rPr>
              <a:t>↑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206240" y="3081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C4749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REJECTED</a:t>
            </a:r>
            <a:endParaRPr lang="en-US" sz="700" dirty="0">
              <a:latin typeface="Rethink Sans" pitchFamily="2" charset="7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777240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→  flusso lineare standard          ↑  reject loop (torna allo step correttivo)          max_retries: 2 (configurabile)</a:t>
            </a:r>
            <a:endParaRPr lang="en-US" sz="900" dirty="0">
              <a:latin typeface="Rethink Sans" pitchFamily="2" charset="7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57200" y="3740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Come funziona un gate</a:t>
            </a:r>
            <a:endParaRPr lang="en-US" sz="1400" dirty="0">
              <a:latin typeface="Rethink Sans" pitchFamily="2" charset="7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57200" y="4060208"/>
            <a:ext cx="8229600" cy="96012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" y="4151648"/>
            <a:ext cx="7900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1. L'agente produce il suo artefatto (es: DR-SPEC scrive reviews/feature-spec.md)</a:t>
            </a:r>
            <a:endParaRPr lang="en-US" sz="900" dirty="0">
              <a:latin typeface="Rethink Sans" pitchFamily="2" charset="77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2. L'agente scrive APPROVED o REJECTED in verdicts/feature-dr-spec.verdict</a:t>
            </a:r>
            <a:endParaRPr lang="en-US" sz="900" dirty="0">
              <a:latin typeface="Rethink Sans" pitchFamily="2" charset="77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3. pipeline.sh legge il file .verdict</a:t>
            </a:r>
            <a:endParaRPr lang="en-US" sz="900" dirty="0">
              <a:latin typeface="Rethink Sans" pitchFamily="2" charset="77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588157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   APPROVED → prosegui al prossimo step</a:t>
            </a:r>
            <a:endParaRPr lang="en-US" sz="900" dirty="0">
              <a:latin typeface="Rethink Sans" pitchFamily="2" charset="77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BC4749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   REJECTED → esegui on_reject (es: PM) con il feedback della review iniettato nel prompt</a:t>
            </a:r>
            <a:endParaRPr lang="en-US" sz="900" dirty="0">
              <a:latin typeface="Rethink Sans" pitchFamily="2" charset="77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   MISSING  → trattato come REJECTED (fail-safe)</a:t>
            </a:r>
            <a:endParaRPr lang="en-US" sz="900" dirty="0">
              <a:latin typeface="Rethink Sans" pitchFamily="2" charset="77"/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D7838774-FB7B-0689-03BF-4C49A6C14BCB}"/>
              </a:ext>
            </a:extLst>
          </p:cNvPr>
          <p:cNvSpPr txBox="1"/>
          <p:nvPr/>
        </p:nvSpPr>
        <p:spPr>
          <a:xfrm>
            <a:off x="1464609" y="1429182"/>
            <a:ext cx="367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→</a:t>
            </a:r>
            <a:endParaRPr lang="it-IT" dirty="0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FED1BC31-5867-7E37-95FF-E11500552925}"/>
              </a:ext>
            </a:extLst>
          </p:cNvPr>
          <p:cNvSpPr txBox="1"/>
          <p:nvPr/>
        </p:nvSpPr>
        <p:spPr>
          <a:xfrm>
            <a:off x="2696852" y="1429182"/>
            <a:ext cx="367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→</a:t>
            </a:r>
            <a:endParaRPr lang="it-IT" dirty="0"/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DDCCE4C7-B17D-6632-1040-97AEFA1F3790}"/>
              </a:ext>
            </a:extLst>
          </p:cNvPr>
          <p:cNvSpPr txBox="1"/>
          <p:nvPr/>
        </p:nvSpPr>
        <p:spPr>
          <a:xfrm>
            <a:off x="3936342" y="1429182"/>
            <a:ext cx="367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→</a:t>
            </a:r>
            <a:endParaRPr lang="it-IT" dirty="0"/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55EFCB2C-4EE4-263B-11A7-2E1AFD35F7D1}"/>
              </a:ext>
            </a:extLst>
          </p:cNvPr>
          <p:cNvSpPr txBox="1"/>
          <p:nvPr/>
        </p:nvSpPr>
        <p:spPr>
          <a:xfrm>
            <a:off x="5165732" y="1429182"/>
            <a:ext cx="367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→</a:t>
            </a:r>
            <a:endParaRPr lang="it-IT" dirty="0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CBC6D8D2-56AB-B43B-CAB0-33F2BDC0A34F}"/>
              </a:ext>
            </a:extLst>
          </p:cNvPr>
          <p:cNvSpPr txBox="1"/>
          <p:nvPr/>
        </p:nvSpPr>
        <p:spPr>
          <a:xfrm>
            <a:off x="6405986" y="1429182"/>
            <a:ext cx="367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→</a:t>
            </a:r>
            <a:endParaRPr lang="it-IT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Rethink Sans ExtraBold" pitchFamily="2" charset="77"/>
                <a:ea typeface="Georgia" pitchFamily="34" charset="-122"/>
                <a:cs typeface="Georgia" pitchFamily="34" charset="-120"/>
              </a:rPr>
              <a:t>Sessioni e contesto</a:t>
            </a:r>
            <a:endParaRPr lang="en-US" sz="2800" b="1" dirty="0">
              <a:latin typeface="Rethink Sans ExtraBold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Ogni step = una sessione Claude indipendente</a:t>
            </a:r>
            <a:endParaRPr lang="en-US" sz="1400" dirty="0">
              <a:latin typeface="Rethink Sans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Ogni step avvia un nuovo processo claude -p. Non c'e memoria condivisa tra agenti: la sessione di PM non sa nulla di DR-SPEC e viceversa. L'unico canale di comunicazione sono i file su disco.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7680960" cy="100584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03119"/>
            <a:ext cx="7516368" cy="907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# Ogni step e un processo isolato: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CLAUDECODE= claude -p \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--output-format stream-json \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--allowedTools "$allowed_tools" \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--model "$model" \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&lt; "$prompt_file"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768096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Come si recupera il contesto</a:t>
            </a:r>
            <a:endParaRPr lang="en-US" sz="1400" dirty="0">
              <a:latin typeface="Rethink Sans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Il prompt di ogni agente gli dice esplicitamente quali file leggere. Il contesto e interamente ricostruito dal filesystem: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7680960" cy="100584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023360"/>
            <a:ext cx="7351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PM      legge: codebase (contesto progetto)               scrive: specs/feature.md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588157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DR-SPEC legge: specs/feature.md                           scrive: reviews/feature-spec.md + .verdict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17817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DEV     legge: specs/feature.md + codebase                scrive: codice nel progetto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457B7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DR-IMPL legge: specs/feature.md + codice                  scrive: reviews/feature-impl.md + .verdict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BC4749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QA      legge: specs/feature.md + codice                  scrive: qa/feature-qa.md + .verdict</a:t>
            </a:r>
            <a:endParaRPr lang="en-US" sz="800" dirty="0">
              <a:latin typeface="Monaspace Neon" pitchFamily="2" charset="7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Rethink Sans ExtraBold" pitchFamily="2" charset="77"/>
                <a:ea typeface="Georgia" pitchFamily="34" charset="-122"/>
                <a:cs typeface="Georgia" pitchFamily="34" charset="-120"/>
              </a:rPr>
              <a:t>Composizione del prompt</a:t>
            </a:r>
            <a:endParaRPr lang="en-US" sz="2800" b="1" dirty="0">
              <a:latin typeface="Rethink Sans ExtraBold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Il prompt finale inviato a Claude viene assemblato a runtime da pipeline.sh combinando piu sorgenti: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680960" cy="100584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508760"/>
            <a:ext cx="7351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prompt finale = template (prompts/step.md)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17817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         + sostituzione ${FEATURE} → nome feature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         + brief (solo per step PM, da briefs/feature.md)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BC4749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         + gate instruction (per step con verdict: true)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457B7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         + feedback review (solo su retry dopo REJECTED)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768096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Esempio: prompt PM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206240" cy="1875202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108960"/>
            <a:ext cx="3877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# PM — Product Manager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Sei un Product Manager esperto.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17817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Scrivi una specifica completa per: ${FEATURE}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## Istruzioni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1. Leggi il contesto del progetto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2. Analizza il brief della feature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3. Scrivi specifica dettagliata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- User stories, Acceptance criteria (BDD)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- Edge cases, Note tecniche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588157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Output: specs/${FEATURE}.md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Gate injection (aggiunta automatica)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46320" y="3017520"/>
            <a:ext cx="3840480" cy="1875202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5010912" y="3108960"/>
            <a:ext cx="35112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---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BC4749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GATE ISTRUZIONI: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(non modificare questo blocco)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Scrivi report in: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reviews/${FEATURE}-spec.md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Scrivi UNA SOLA PAROLA in: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verdicts/${FEATURE}-dr-spec.verdict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588157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Se approvi → APPROVED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BC4749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Se rifiuti → REJECTED</a:t>
            </a:r>
            <a:endParaRPr lang="en-US" sz="800" dirty="0">
              <a:latin typeface="Monaspace Neon" pitchFamily="2" charset="7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Rethink Sans ExtraBold" pitchFamily="2" charset="77"/>
                <a:ea typeface="Georgia" pitchFamily="34" charset="-122"/>
                <a:cs typeface="Georgia" pitchFamily="34" charset="-120"/>
              </a:rPr>
              <a:t>pipeline.sh</a:t>
            </a:r>
            <a:endParaRPr lang="en-US" sz="2800" b="1" dirty="0">
              <a:latin typeface="Rethink Sans ExtraBold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Il loop di orchestrazione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120640" cy="329184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325880"/>
            <a:ext cx="47914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_run_pipeline()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state_init()                          # crea state.json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for step in [pm, dr-spec, dev, dr-impl, qa]: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config = load(pipeline.yaml, step)   # model, provider, tools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17817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prompt = build_prompt(step)           # template + vars + gate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588157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claude_run(prompt)                    # sessione isolata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if step.verdict == true: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  v = read(verdicts/feature-step.verdict)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588157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  if v == APPROVED  → next step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BC4749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  if v == REJECTED  →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BC4749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    run(on_reject, feedback=review)   # PM o DEV con feedback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BC4749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    retry (max: max_retries)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state_step_done(step, elapsed, retries)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52160" y="1234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Meccanismi chiave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852160" y="1600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Token retry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52160" y="18013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alibri" pitchFamily="34" charset="-122"/>
                <a:cs typeface="Calibri" pitchFamily="34" charset="-120"/>
              </a:rPr>
              <a:t>Backoff esponenziale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alibri" pitchFamily="34" charset="-122"/>
                <a:cs typeface="Calibri" pitchFamily="34" charset="-120"/>
              </a:rPr>
              <a:t>su rate limit / token exhaustion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alibri" pitchFamily="34" charset="-122"/>
                <a:cs typeface="Calibri" pitchFamily="34" charset="-120"/>
              </a:rPr>
              <a:t>delay = base * 2^attempt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52160" y="2377440"/>
            <a:ext cx="274320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5146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State tracking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52160" y="2715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alibri" pitchFamily="34" charset="-122"/>
                <a:cs typeface="Calibri" pitchFamily="34" charset="-120"/>
              </a:rPr>
              <a:t>state.json traccia status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alibri" pitchFamily="34" charset="-122"/>
                <a:cs typeface="Calibri" pitchFamily="34" charset="-120"/>
              </a:rPr>
              <a:t>di ogni step: pending, in_progress,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alibri" pitchFamily="34" charset="-122"/>
                <a:cs typeface="Calibri" pitchFamily="34" charset="-120"/>
              </a:rPr>
              <a:t>completed, failed + retries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52160" y="3291840"/>
            <a:ext cx="274320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34290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MCP servers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52160" y="36301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alibri" pitchFamily="34" charset="-122"/>
                <a:cs typeface="Calibri" pitchFamily="34" charset="-120"/>
              </a:rPr>
              <a:t>Server MCP opzionali per step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alibri" pitchFamily="34" charset="-122"/>
                <a:cs typeface="Calibri" pitchFamily="34" charset="-120"/>
              </a:rPr>
              <a:t>(es: Playwright per QA)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alibri" pitchFamily="34" charset="-122"/>
                <a:cs typeface="Calibri" pitchFamily="34" charset="-120"/>
              </a:rPr>
              <a:t>configurabili in .mcp.json</a:t>
            </a:r>
            <a:endParaRPr lang="en-US" sz="800" dirty="0">
              <a:latin typeface="Monaspace Neon" pitchFamily="2" charset="7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Rethink Sans ExtraBold" pitchFamily="2" charset="77"/>
                <a:ea typeface="Georgia" pitchFamily="34" charset="-122"/>
                <a:cs typeface="Georgia" pitchFamily="34" charset="-120"/>
              </a:rPr>
              <a:t>pipeline.yaml</a:t>
            </a:r>
            <a:endParaRPr lang="en-US" sz="2800" b="1" dirty="0">
              <a:latin typeface="Rethink Sans ExtraBold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0" cy="393192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097280"/>
            <a:ext cx="424281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pipeline: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name: my-project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defaults: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provider: anthropic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model: claude-sonnet-4-6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max_retries: 2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steps: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- name: pm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prompt: prompts/pm.md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model: claude-opus-4-6      # modello diverso per PM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output: specs/${FEATURE}.md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verdict: false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588157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- name: dr-spec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588157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verdict: true               # gate attivo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BC4749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on_reject: pm               # torna a PM se REJECTED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457B7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- name: dr-impl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457B7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verdict: true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BC4749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   on_reject: dev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0" y="1005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Tools per step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303520" y="1325880"/>
            <a:ext cx="3383280" cy="59436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8" name="Text 6"/>
          <p:cNvSpPr/>
          <p:nvPr/>
        </p:nvSpPr>
        <p:spPr>
          <a:xfrm>
            <a:off x="5468112" y="141732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PM / DR:   Read, Write, Edit, Glob, Grep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DEV / QA:  + Bash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QA:        + MCP Playwright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03520" y="2103120"/>
            <a:ext cx="338328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22402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Ogni step puo avere: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03520" y="24688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Modello dedicato</a:t>
            </a:r>
            <a:endParaRPr lang="en-US" sz="1000" dirty="0">
              <a:latin typeface="Rethink Sans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Set di tools diverso</a:t>
            </a:r>
            <a:endParaRPr lang="en-US" sz="1000" dirty="0">
              <a:latin typeface="Rethink Sans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Server MCP specifici</a:t>
            </a:r>
            <a:endParaRPr lang="en-US" sz="1000" dirty="0">
              <a:latin typeface="Rethink Sans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Gate opzionale (verdict: true/false)</a:t>
            </a:r>
            <a:endParaRPr lang="en-US" sz="1000" dirty="0">
              <a:latin typeface="Rethink Sans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Step di fallback (on_reject)</a:t>
            </a:r>
            <a:endParaRPr lang="en-US" sz="1000" dirty="0">
              <a:latin typeface="Rethink Sans" pitchFamily="2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Rethink Sans ExtraBold" pitchFamily="2" charset="77"/>
                <a:ea typeface="Georgia" pitchFamily="34" charset="-122"/>
                <a:cs typeface="Georgia" pitchFamily="34" charset="-120"/>
              </a:rPr>
              <a:t>Terminal UI</a:t>
            </a:r>
            <a:endParaRPr lang="en-US" sz="2800" b="1" dirty="0">
              <a:latin typeface="Rethink Sans ExtraBold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28346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097280"/>
            <a:ext cx="731520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170432"/>
            <a:ext cx="82296" cy="82296"/>
          </a:xfrm>
          <a:prstGeom prst="line">
            <a:avLst/>
          </a:prstGeom>
          <a:solidFill>
            <a:srgbClr val="BC4749"/>
          </a:solidFill>
          <a:ln/>
        </p:spPr>
      </p:sp>
      <p:sp>
        <p:nvSpPr>
          <p:cNvPr id="7" name="Shape 5"/>
          <p:cNvSpPr/>
          <p:nvPr/>
        </p:nvSpPr>
        <p:spPr>
          <a:xfrm>
            <a:off x="1216152" y="1170432"/>
            <a:ext cx="82296" cy="82296"/>
          </a:xfrm>
          <a:prstGeom prst="line">
            <a:avLst/>
          </a:prstGeom>
          <a:solidFill>
            <a:srgbClr val="C17817"/>
          </a:solidFill>
          <a:ln/>
        </p:spPr>
      </p:sp>
      <p:sp>
        <p:nvSpPr>
          <p:cNvPr id="8" name="Shape 6"/>
          <p:cNvSpPr/>
          <p:nvPr/>
        </p:nvSpPr>
        <p:spPr>
          <a:xfrm>
            <a:off x="1353312" y="1170432"/>
            <a:ext cx="82296" cy="82296"/>
          </a:xfrm>
          <a:prstGeom prst="line">
            <a:avLst/>
          </a:prstGeom>
          <a:solidFill>
            <a:srgbClr val="588157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1155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Rethink Sans" pitchFamily="2" charset="77"/>
                <a:ea typeface="Consolas" pitchFamily="34" charset="-122"/>
                <a:cs typeface="Consolas" pitchFamily="34" charset="-120"/>
              </a:rPr>
              <a:t>pipeline.sh</a:t>
            </a:r>
            <a:endParaRPr lang="en-US" sz="800" dirty="0">
              <a:latin typeface="Rethink Sans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45920" y="146304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9BD5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┌─ dev (claude-sonnet-4-6) ─────────── 4m12s ──┐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│ ⠸ Working...                                  │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│                                                │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│ ~ Write    PosterCanvas.vue                    │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│ ~ Write    useCanvas.ts                        │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E9178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│ ~ Edit     index.vue                           │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│ ~ Bash     pnpm typecheck → exit 0             │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│ ~ Read     Button.vue                          │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│                            (+18 actions)        │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5B9BD5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 └────────────────────────────────────────────────┘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Display real-time: spinner asincrono, semi-log delle ultime 6 azioni, timer, parsing stream-json.</a:t>
            </a:r>
            <a:endParaRPr lang="en-US" sz="1000" dirty="0">
              <a:latin typeface="Rethink Sans" pitchFamily="2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Rethink Sans ExtraBold" pitchFamily="2" charset="77"/>
                <a:ea typeface="Georgia" pitchFamily="34" charset="-122"/>
                <a:cs typeface="Georgia" pitchFamily="34" charset="-120"/>
              </a:rPr>
              <a:t>Utilizzo</a:t>
            </a:r>
            <a:endParaRPr lang="en-US" sz="2800" b="1" dirty="0">
              <a:latin typeface="Rethink Sans ExtraBold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292608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247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./pipeline.sh feature --description "..."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0" y="11247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Run completo con brief inline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822960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5303520" cy="292608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276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./pipeline.sh feature --resume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0" y="16276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Riprendi da dove si e fermato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822960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03120"/>
            <a:ext cx="5303520" cy="292608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305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./pipeline.sh feature --from dev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0" y="2130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Riparti da uno step specifico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487168"/>
            <a:ext cx="822960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606040"/>
            <a:ext cx="5303520" cy="292608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334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./pipeline.sh feature --only qa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0" y="2633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Esegui solo uno step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2990088"/>
            <a:ext cx="822960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08960"/>
            <a:ext cx="5303520" cy="292608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3639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./pipeline.sh feature --dry-run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43600" y="31363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Mostra prompt, non esegue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493008"/>
            <a:ext cx="822960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611880"/>
            <a:ext cx="5303520" cy="292608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393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./pipeline.sh feature --model claude-opus-4-6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43600" y="3639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Override modello</a:t>
            </a:r>
            <a:endParaRPr lang="en-US" sz="1000" dirty="0">
              <a:latin typeface="Rethink Sans" pitchFamily="2" charset="7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3995928"/>
            <a:ext cx="822960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114800"/>
            <a:ext cx="5303520" cy="292608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1422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./pipeline.sh --state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943600" y="4142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Stato corrente</a:t>
            </a:r>
            <a:endParaRPr lang="en-US" sz="1000" dirty="0">
              <a:latin typeface="Rethink Sans" pitchFamily="2" charset="7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Rethink Sans ExtraBold" pitchFamily="2" charset="77"/>
                <a:ea typeface="Georgia" pitchFamily="34" charset="-122"/>
                <a:cs typeface="Georgia" pitchFamily="34" charset="-120"/>
              </a:rPr>
              <a:t>Struttura progetto</a:t>
            </a:r>
            <a:endParaRPr lang="en-US" sz="2800" b="1" dirty="0">
              <a:latin typeface="Rethink Sans ExtraBold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754880" cy="283464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143000"/>
            <a:ext cx="44256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ai-pipeline/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├── pipeline.sh          # Entry point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├── pipeline.yaml        # Configurazione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├── .mcp.json            # MCP servers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D5A80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├── lib/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│   config.sh  display.sh  state.sh  verdict.sh  claude.sh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├── prompts/             # Prompt templates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│   pm.md  dr-spec.md  dev.md  dr-impl.md  qa.md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├── specs/               # Output PM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├── reviews/             # Output DR-SPEC, DR-IMPL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├── qa/                  # Output QA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├── verdicts/            # Gate files (.verdict)</a:t>
            </a:r>
            <a:endParaRPr lang="en-US" sz="800" dirty="0">
              <a:latin typeface="Monaspace Neon" pitchFamily="2" charset="7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└── logs/                # stream-json logs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Git tracked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0" y="1325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pipeline.sh</a:t>
            </a:r>
            <a:endParaRPr lang="en-US" sz="800" dirty="0">
              <a:latin typeface="Monaspace Neon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pipeline.yaml</a:t>
            </a:r>
            <a:endParaRPr lang="en-US" sz="800" dirty="0">
              <a:latin typeface="Monaspace Neon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.mcp.json</a:t>
            </a:r>
            <a:endParaRPr lang="en-US" sz="800" dirty="0">
              <a:latin typeface="Monaspace Neon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lib/*</a:t>
            </a:r>
            <a:endParaRPr lang="en-US" sz="800" dirty="0">
              <a:latin typeface="Monaspace Neon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prompts/*</a:t>
            </a:r>
            <a:endParaRPr lang="en-US" sz="800" dirty="0">
              <a:latin typeface="Monaspace Neon" pitchFamily="2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0" y="2423160"/>
            <a:ext cx="320040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.gitignore</a:t>
            </a:r>
            <a:endParaRPr lang="en-US" sz="1200" dirty="0">
              <a:latin typeface="Rethink Sans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0" y="28346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briefs/</a:t>
            </a:r>
            <a:endParaRPr lang="en-US" sz="800" dirty="0">
              <a:latin typeface="Monaspace Neon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specs/</a:t>
            </a:r>
            <a:endParaRPr lang="en-US" sz="800" dirty="0">
              <a:latin typeface="Monaspace Neon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reviews/</a:t>
            </a:r>
            <a:endParaRPr lang="en-US" sz="800" dirty="0">
              <a:latin typeface="Monaspace Neon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qa/</a:t>
            </a:r>
            <a:endParaRPr lang="en-US" sz="800" dirty="0">
              <a:latin typeface="Monaspace Neon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verdicts/</a:t>
            </a:r>
            <a:endParaRPr lang="en-US" sz="800" dirty="0">
              <a:latin typeface="Monaspace Neon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logs/</a:t>
            </a:r>
            <a:endParaRPr lang="en-US" sz="800" dirty="0">
              <a:latin typeface="Monaspace Neon" pitchFamily="2" charset="77"/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E9E9E"/>
                </a:solidFill>
                <a:latin typeface="Monaspace Neon" pitchFamily="2" charset="77"/>
                <a:ea typeface="Consolas" pitchFamily="34" charset="-122"/>
                <a:cs typeface="Consolas" pitchFamily="34" charset="-120"/>
              </a:rPr>
              <a:t>state.json</a:t>
            </a:r>
            <a:endParaRPr lang="en-US" sz="800" dirty="0">
              <a:latin typeface="Monaspace Neon" pitchFamily="2" charset="7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Rethink Sans ExtraBold" pitchFamily="2" charset="77"/>
                <a:ea typeface="Georgia" pitchFamily="34" charset="-122"/>
                <a:cs typeface="Georgia" pitchFamily="34" charset="-120"/>
              </a:rPr>
              <a:t>Prossimi passi</a:t>
            </a:r>
            <a:endParaRPr lang="en-US" sz="2800" b="1" dirty="0">
              <a:latin typeface="Rethink Sans ExtraBold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5A80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>
              <a:latin typeface="Rethink Sans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Test end-to-end con API reale</a:t>
            </a:r>
            <a:endParaRPr lang="en-US" sz="1300" dirty="0">
              <a:latin typeface="Rethink Sans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80160" y="16276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Validare il flusso completo con una feature di test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68096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5A80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>
              <a:latin typeface="Rethink Sans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Personalizzare prompts per progetto</a:t>
            </a:r>
            <a:endParaRPr lang="en-US" sz="1300" dirty="0">
              <a:latin typeface="Rethink Sans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80160" y="23591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Adattare i template al contesto specifico del team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768096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5A80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>
              <a:latin typeface="Rethink Sans" pitchFamily="2" charset="7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80160" y="283464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Integrare nel CI/CD</a:t>
            </a:r>
            <a:endParaRPr lang="en-US" sz="1300" dirty="0">
              <a:latin typeface="Rethink Sans" pitchFamily="2" charset="7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80160" y="30906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Eseguire pipeline in ambiente di continuous integration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7680960" cy="7315"/>
          </a:xfrm>
          <a:prstGeom prst="rect">
            <a:avLst/>
          </a:prstGeom>
          <a:solidFill>
            <a:srgbClr val="D4D0C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5A80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>
              <a:latin typeface="Rethink Sans" pitchFamily="2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Aggiungere step custom</a:t>
            </a:r>
            <a:endParaRPr lang="en-US" sz="1300" dirty="0">
              <a:latin typeface="Rethink Sans" pitchFamily="2" charset="7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80160" y="38221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Rethink Sans" pitchFamily="2" charset="77"/>
                <a:ea typeface="Calibri" pitchFamily="34" charset="-122"/>
                <a:cs typeface="Calibri" pitchFamily="34" charset="-120"/>
              </a:rPr>
              <a:t>Es: code-review, security-audit, documentation</a:t>
            </a:r>
            <a:endParaRPr lang="en-US" sz="1100" dirty="0">
              <a:latin typeface="Rethink Sans" pitchFamily="2" charset="7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5A80"/>
                </a:solidFill>
                <a:latin typeface="Rethink Sans" pitchFamily="2" charset="77"/>
                <a:ea typeface="Georgia" pitchFamily="34" charset="-122"/>
                <a:cs typeface="Georgia" pitchFamily="34" charset="-120"/>
              </a:rPr>
              <a:t>Domande?</a:t>
            </a:r>
            <a:endParaRPr lang="en-US" sz="1800" dirty="0">
              <a:latin typeface="Rethink Sans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1522</Words>
  <Application>Microsoft Macintosh PowerPoint</Application>
  <PresentationFormat>Presentazione su schermo (16:9)</PresentationFormat>
  <Paragraphs>267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8" baseType="lpstr">
      <vt:lpstr>Arial</vt:lpstr>
      <vt:lpstr>Calibri</vt:lpstr>
      <vt:lpstr>Monaspace Neon</vt:lpstr>
      <vt:lpstr>Rethink Sans</vt:lpstr>
      <vt:lpstr>Rethink Sans ExtraBold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Pipeline</dc:title>
  <dc:subject>PptxGenJS Presentation</dc:subject>
  <dc:creator>Andrea Toffanello</dc:creator>
  <cp:lastModifiedBy>Andrea Toffanello</cp:lastModifiedBy>
  <cp:revision>2</cp:revision>
  <dcterms:created xsi:type="dcterms:W3CDTF">2026-02-24T22:38:36Z</dcterms:created>
  <dcterms:modified xsi:type="dcterms:W3CDTF">2026-02-24T23:02:32Z</dcterms:modified>
</cp:coreProperties>
</file>