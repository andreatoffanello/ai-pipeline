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61" r:id="rId8"/>
    <p:sldId id="271" r:id="rId27"/>
    <p:sldId id="272" r:id="rId32"/>
    <p:sldId id="273" r:id="rId36"/>
    <p:sldId id="274" r:id="rId37"/>
    <p:sldId id="275" r:id="rId28"/>
    <p:sldId id="276" r:id="rId33"/>
    <p:sldId id="277" r:id="rId29"/>
    <p:sldId id="278" r:id="rId30"/>
    <p:sldId id="279" r:id="rId34"/>
    <p:sldId id="280" r:id="rId38"/>
    <p:sldId id="281" r:id="rId31"/>
    <p:sldId id="282" r:id="rId35"/>
    <p:sldId id="283" r:id="rId2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8FF"/>
    <a:srgbClr val="042433"/>
    <a:srgbClr val="171717"/>
    <a:srgbClr val="F0F6FF"/>
    <a:srgbClr val="F5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44A48F-4406-3C49-9D9F-255F00ABCC0A}" v="2" dt="2026-02-17T12:19:08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4"/>
    <p:restoredTop sz="94715"/>
  </p:normalViewPr>
  <p:slideViewPr>
    <p:cSldViewPr snapToGrid="0">
      <p:cViewPr varScale="1">
        <p:scale>
          <a:sx n="114" d="100"/>
          <a:sy n="114" d="100"/>
        </p:scale>
        <p:origin x="536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4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23" Type="http://schemas.openxmlformats.org/officeDocument/2006/relationships/tableStyles" Target="tableStyles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22" Type="http://schemas.openxmlformats.org/officeDocument/2006/relationships/theme" Target="theme/theme1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Toffanello" userId="452e7aa6-7434-4895-b360-bbd05ffb7e87" providerId="ADAL" clId="{37586F02-DACA-5F2F-9FB6-8BAD15EEE4F0}"/>
    <pc:docChg chg="undo custSel addSld delSld modSld sldOrd modMainMaster">
      <pc:chgData name="Andrea Toffanello" userId="452e7aa6-7434-4895-b360-bbd05ffb7e87" providerId="ADAL" clId="{37586F02-DACA-5F2F-9FB6-8BAD15EEE4F0}" dt="2026-02-17T12:54:25.272" v="2847"/>
      <pc:docMkLst>
        <pc:docMk/>
      </pc:docMkLst>
      <pc:sldChg chg="addSp delSp modSp new mod">
        <pc:chgData name="Andrea Toffanello" userId="452e7aa6-7434-4895-b360-bbd05ffb7e87" providerId="ADAL" clId="{37586F02-DACA-5F2F-9FB6-8BAD15EEE4F0}" dt="2026-02-17T12:19:01.208" v="2844" actId="1076"/>
        <pc:sldMkLst>
          <pc:docMk/>
          <pc:sldMk cId="3526211286" sldId="256"/>
        </pc:sldMkLst>
        <pc:spChg chg="mod">
          <ac:chgData name="Andrea Toffanello" userId="452e7aa6-7434-4895-b360-bbd05ffb7e87" providerId="ADAL" clId="{37586F02-DACA-5F2F-9FB6-8BAD15EEE4F0}" dt="2026-02-17T12:19:01.208" v="2844" actId="1076"/>
          <ac:spMkLst>
            <pc:docMk/>
            <pc:sldMk cId="3526211286" sldId="256"/>
            <ac:spMk id="2" creationId="{B9837B5F-387A-B24E-6807-C9116E5A434F}"/>
          </ac:spMkLst>
        </pc:spChg>
        <pc:spChg chg="add del mod">
          <ac:chgData name="Andrea Toffanello" userId="452e7aa6-7434-4895-b360-bbd05ffb7e87" providerId="ADAL" clId="{37586F02-DACA-5F2F-9FB6-8BAD15EEE4F0}" dt="2026-02-17T12:18:57.437" v="2842"/>
          <ac:spMkLst>
            <pc:docMk/>
            <pc:sldMk cId="3526211286" sldId="256"/>
            <ac:spMk id="4" creationId="{4870D1EF-EFD4-17B2-E12C-CC8EE7449FC0}"/>
          </ac:spMkLst>
        </pc:spChg>
      </pc:sldChg>
      <pc:sldMasterChg chg="modSldLayout">
        <pc:chgData name="Andrea Toffanello" userId="452e7aa6-7434-4895-b360-bbd05ffb7e87" providerId="ADAL" clId="{37586F02-DACA-5F2F-9FB6-8BAD15EEE4F0}" dt="2026-02-17T12:54:25.272" v="2847"/>
        <pc:sldMasterMkLst>
          <pc:docMk/>
          <pc:sldMasterMk cId="1580766565" sldId="2147483648"/>
        </pc:sldMasterMkLst>
        <pc:sldLayoutChg chg="addSp delSp modSp mod">
          <pc:chgData name="Andrea Toffanello" userId="452e7aa6-7434-4895-b360-bbd05ffb7e87" providerId="ADAL" clId="{37586F02-DACA-5F2F-9FB6-8BAD15EEE4F0}" dt="2026-02-17T12:54:25.272" v="2847"/>
          <pc:sldLayoutMkLst>
            <pc:docMk/>
            <pc:sldMasterMk cId="1580766565" sldId="2147483648"/>
            <pc:sldLayoutMk cId="452191314" sldId="2147483649"/>
          </pc:sldLayoutMkLst>
          <pc:spChg chg="add del mod">
            <ac:chgData name="Andrea Toffanello" userId="452e7aa6-7434-4895-b360-bbd05ffb7e87" providerId="ADAL" clId="{37586F02-DACA-5F2F-9FB6-8BAD15EEE4F0}" dt="2026-02-17T12:54:25.272" v="2847"/>
            <ac:spMkLst>
              <pc:docMk/>
              <pc:sldMasterMk cId="1580766565" sldId="2147483648"/>
              <pc:sldLayoutMk cId="452191314" sldId="2147483649"/>
              <ac:spMk id="4" creationId="{A82B23AD-95A0-E433-5EBB-0B73F9D43E6B}"/>
            </ac:spMkLst>
          </pc:spChg>
        </pc:sldLayoutChg>
      </pc:sldMasterChg>
    </pc:docChg>
  </pc:docChgLst>
</pc:chgInfo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0D4AD1F1-A129-53A9-FC07-06DE42DCA7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C50AE62-1E53-19FE-EF5F-32013C48CE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EABA6C-2888-6B49-87A2-9D4CC555DD5E}" type="datetimeFigureOut">
              <a:rPr lang="it-IT" smtClean="0"/>
              <a:t>17/02/26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B8DCE09-5878-1EA3-5844-00F2A381D7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D480C3D-4643-61C3-5E87-0A34EEF7FEA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4E545-698E-F344-9D33-3075F4A973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2875638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3A19E7-3F09-6A4F-BA13-3DBC475406C2}" type="datetimeFigureOut">
              <a:rPr lang="it-IT" smtClean="0"/>
              <a:t>17/02/26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D18F8-504A-DD40-80DF-955A9CE237B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50858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DF590C-3CC4-A2F7-CE19-5BF7FB7F2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225" y="549275"/>
            <a:ext cx="7056439" cy="2771775"/>
          </a:xfrm>
        </p:spPr>
        <p:txBody>
          <a:bodyPr anchor="b"/>
          <a:lstStyle>
            <a:lvl1pPr algn="l">
              <a:defRPr sz="4000" b="1" i="0">
                <a:solidFill>
                  <a:schemeClr val="bg2">
                    <a:lumMod val="10000"/>
                  </a:schemeClr>
                </a:solidFill>
                <a:latin typeface="Rethink Sans ExtraBold" pitchFamily="2" charset="77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BFEDA21-7D3B-A381-6F92-A859755C4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225" y="3536949"/>
            <a:ext cx="7056439" cy="2879725"/>
          </a:xfrm>
          <a:ln w="28575">
            <a:noFill/>
          </a:ln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lo stile del sottotitolo dello schema</a:t>
            </a:r>
          </a:p>
        </p:txBody>
      </p:sp>
      <p:sp>
        <p:nvSpPr>
          <p:cNvPr id="14" name="Segnaposto data 3">
            <a:extLst>
              <a:ext uri="{FF2B5EF4-FFF2-40B4-BE49-F238E27FC236}">
                <a16:creationId xmlns:a16="http://schemas.microsoft.com/office/drawing/2014/main" id="{D8F60BA4-2C20-4621-4289-952D92BCEF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6660000"/>
            <a:ext cx="3673475" cy="18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defRPr>
            </a:lvl1pPr>
          </a:lstStyle>
          <a:p>
            <a:r>
              <a:rPr lang="it-IT"/>
              <a:t>02/12/25</a:t>
            </a:r>
          </a:p>
        </p:txBody>
      </p:sp>
      <p:sp>
        <p:nvSpPr>
          <p:cNvPr id="15" name="Segnaposto piè di pagina 4">
            <a:extLst>
              <a:ext uri="{FF2B5EF4-FFF2-40B4-BE49-F238E27FC236}">
                <a16:creationId xmlns:a16="http://schemas.microsoft.com/office/drawing/2014/main" id="{6ACFE4EC-5D77-79CA-584F-4FD6CFD5B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4338" y="6660000"/>
            <a:ext cx="3743326" cy="18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defRPr>
            </a:lvl1pPr>
          </a:lstStyle>
          <a:p>
            <a:r>
              <a:rPr lang="it-IT"/>
              <a:t>Titolo del documento</a:t>
            </a:r>
            <a:endParaRPr lang="it-IT" dirty="0"/>
          </a:p>
        </p:txBody>
      </p:sp>
      <p:sp>
        <p:nvSpPr>
          <p:cNvPr id="17" name="Segnaposto numero diapositiva 5">
            <a:extLst>
              <a:ext uri="{FF2B5EF4-FFF2-40B4-BE49-F238E27FC236}">
                <a16:creationId xmlns:a16="http://schemas.microsoft.com/office/drawing/2014/main" id="{B8A2AAA7-4EBB-F0FA-3F07-7152B4580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83562" y="6660000"/>
            <a:ext cx="3673475" cy="18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defRPr>
            </a:lvl1pPr>
          </a:lstStyle>
          <a:p>
            <a:r>
              <a:rPr lang="it-IT"/>
              <a:t xml:space="preserve">// </a:t>
            </a:r>
            <a:fld id="{B0379C00-A7F0-FC4A-A315-5F593AF20193}" type="slidenum">
              <a:rPr lang="it-IT" smtClean="0"/>
              <a:pPr/>
              <a:t>‹N›</a:t>
            </a:fld>
            <a:r>
              <a:rPr lang="it-IT"/>
              <a:t xml:space="preserve"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52191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60777F-7334-2FCC-557A-13C2BDEB2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4" y="549275"/>
            <a:ext cx="7056439" cy="1800225"/>
          </a:xfrm>
        </p:spPr>
        <p:txBody>
          <a:bodyPr anchor="t"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C45DE7-135E-EA06-5B2F-47DE18F51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4" y="2528887"/>
            <a:ext cx="7056439" cy="38877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cxnSp>
        <p:nvCxnSpPr>
          <p:cNvPr id="8" name="Connettore dritto 7">
            <a:extLst>
              <a:ext uri="{FF2B5EF4-FFF2-40B4-BE49-F238E27FC236}">
                <a16:creationId xmlns:a16="http://schemas.microsoft.com/office/drawing/2014/main" id="{ABF7CC76-4F46-B923-4AFB-C3CF4C24BCF9}"/>
              </a:ext>
            </a:extLst>
          </p:cNvPr>
          <p:cNvCxnSpPr>
            <a:cxnSpLocks/>
          </p:cNvCxnSpPr>
          <p:nvPr userDrawn="1"/>
        </p:nvCxnSpPr>
        <p:spPr>
          <a:xfrm>
            <a:off x="0" y="6624000"/>
            <a:ext cx="12192000" cy="0"/>
          </a:xfrm>
          <a:prstGeom prst="line">
            <a:avLst/>
          </a:prstGeom>
          <a:ln w="6350">
            <a:solidFill>
              <a:srgbClr val="0048FF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egnaposto data 3">
            <a:extLst>
              <a:ext uri="{FF2B5EF4-FFF2-40B4-BE49-F238E27FC236}">
                <a16:creationId xmlns:a16="http://schemas.microsoft.com/office/drawing/2014/main" id="{359031E9-5D0C-6A80-D76A-C265A9EE4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83563" y="6678000"/>
            <a:ext cx="3673475" cy="18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defRPr>
            </a:lvl1pPr>
          </a:lstStyle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17" name="Segnaposto piè di pagina 4">
            <a:extLst>
              <a:ext uri="{FF2B5EF4-FFF2-40B4-BE49-F238E27FC236}">
                <a16:creationId xmlns:a16="http://schemas.microsoft.com/office/drawing/2014/main" id="{F4EF3580-AD5F-BDD2-3309-11321AB5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963" y="33252"/>
            <a:ext cx="3673475" cy="180000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defRPr>
            </a:lvl1pPr>
          </a:lstStyle>
          <a:p>
            <a:pPr algn="l"/>
            <a:r>
              <a:rPr lang="it-IT" dirty="0"/>
              <a:t>Titolo del documento</a:t>
            </a:r>
          </a:p>
        </p:txBody>
      </p:sp>
      <p:sp>
        <p:nvSpPr>
          <p:cNvPr id="18" name="Segnaposto numero diapositiva 5">
            <a:extLst>
              <a:ext uri="{FF2B5EF4-FFF2-40B4-BE49-F238E27FC236}">
                <a16:creationId xmlns:a16="http://schemas.microsoft.com/office/drawing/2014/main" id="{2A93C625-84E0-D105-EA34-71B1A4C6C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678000"/>
            <a:ext cx="3673475" cy="18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defRPr>
            </a:lvl1pPr>
          </a:lstStyle>
          <a:p>
            <a:pPr algn="l"/>
            <a:r>
              <a:rPr lang="it-IT" dirty="0">
                <a:solidFill>
                  <a:srgbClr val="0048FF"/>
                </a:solidFill>
              </a:rPr>
              <a:t>//</a:t>
            </a:r>
            <a:r>
              <a:rPr lang="it-IT" dirty="0"/>
              <a:t xml:space="preserve"> </a:t>
            </a:r>
            <a:fld id="{B0379C00-A7F0-FC4A-A315-5F593AF20193}" type="slidenum">
              <a:rPr lang="it-IT" smtClean="0"/>
              <a:pPr algn="l"/>
              <a:t>‹N›</a:t>
            </a:fld>
            <a:r>
              <a:rPr lang="it-IT" dirty="0"/>
              <a:t xml:space="preserve"> 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857B4474-4332-2297-7EF4-E731D4C69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9343" y="6681415"/>
            <a:ext cx="633314" cy="144000"/>
          </a:xfrm>
          <a:prstGeom prst="rect">
            <a:avLst/>
          </a:prstGeom>
        </p:spPr>
      </p:pic>
      <p:cxnSp>
        <p:nvCxnSpPr>
          <p:cNvPr id="20" name="Connettore dritto 19">
            <a:extLst>
              <a:ext uri="{FF2B5EF4-FFF2-40B4-BE49-F238E27FC236}">
                <a16:creationId xmlns:a16="http://schemas.microsoft.com/office/drawing/2014/main" id="{451A13BC-0ACB-AC0B-B080-3B2A17472F52}"/>
              </a:ext>
            </a:extLst>
          </p:cNvPr>
          <p:cNvCxnSpPr>
            <a:cxnSpLocks/>
          </p:cNvCxnSpPr>
          <p:nvPr userDrawn="1"/>
        </p:nvCxnSpPr>
        <p:spPr>
          <a:xfrm>
            <a:off x="0" y="250340"/>
            <a:ext cx="12192000" cy="0"/>
          </a:xfrm>
          <a:prstGeom prst="line">
            <a:avLst/>
          </a:prstGeom>
          <a:ln w="6350">
            <a:solidFill>
              <a:srgbClr val="0048FF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egnaposto piè di pagina 4">
            <a:extLst>
              <a:ext uri="{FF2B5EF4-FFF2-40B4-BE49-F238E27FC236}">
                <a16:creationId xmlns:a16="http://schemas.microsoft.com/office/drawing/2014/main" id="{9A01CB4F-C31B-F7A2-AF74-77239CA6D7CD}"/>
              </a:ext>
            </a:extLst>
          </p:cNvPr>
          <p:cNvSpPr txBox="1">
            <a:spLocks/>
          </p:cNvSpPr>
          <p:nvPr userDrawn="1"/>
        </p:nvSpPr>
        <p:spPr>
          <a:xfrm>
            <a:off x="8183563" y="33252"/>
            <a:ext cx="3673475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800" b="0" i="0" kern="120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it-IT" dirty="0" err="1"/>
              <a:t>thetisit.com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68830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neve, schermata, inverno, paesaggio  Il contenuto generato dall'IA potrebbe non essere corretto.">
            <a:extLst>
              <a:ext uri="{FF2B5EF4-FFF2-40B4-BE49-F238E27FC236}">
                <a16:creationId xmlns:a16="http://schemas.microsoft.com/office/drawing/2014/main" id="{7952E618-74FC-6A5F-EF23-F40E42925CF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18612" r="186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6B45124-5273-01E0-C865-E4435484E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1" y="549275"/>
            <a:ext cx="11522073" cy="12588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8DBC86C-EC69-9478-F373-15D5F3E68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825625"/>
            <a:ext cx="115220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B50BBE-6CEB-7503-72AF-8705C8E6B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83563" y="6671561"/>
            <a:ext cx="3673475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defRPr>
            </a:lvl1pPr>
          </a:lstStyle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68774E-DB8B-ECF5-1889-CAA447035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24338" y="6660000"/>
            <a:ext cx="3743326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bg2">
                    <a:lumMod val="10000"/>
                  </a:schemeClr>
                </a:solidFill>
                <a:latin typeface="Rethink Sans" pitchFamily="2" charset="77"/>
              </a:defRPr>
            </a:lvl1pPr>
          </a:lstStyle>
          <a:p>
            <a:r>
              <a:rPr lang="it-IT">
                <a:latin typeface="Sometype Mono" panose="020B0009020203030204" pitchFamily="49" charset="77"/>
              </a:rPr>
              <a:t>Titolo del documento</a:t>
            </a:r>
            <a:endParaRPr lang="it-IT" dirty="0">
              <a:latin typeface="Sometype Mono" panose="020B0009020203030204" pitchFamily="49" charset="77"/>
            </a:endParaRP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4E11B4E-9958-2DA2-B6D0-413833153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678000"/>
            <a:ext cx="3673475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2">
                    <a:lumMod val="10000"/>
                  </a:schemeClr>
                </a:solidFill>
                <a:latin typeface="Sometype Mono" panose="020B0009020203030204" pitchFamily="49" charset="77"/>
              </a:defRPr>
            </a:lvl1pPr>
          </a:lstStyle>
          <a:p>
            <a:pPr algn="l"/>
            <a:r>
              <a:rPr lang="it-IT" dirty="0"/>
              <a:t xml:space="preserve">// </a:t>
            </a:r>
            <a:fld id="{B0379C00-A7F0-FC4A-A315-5F593AF20193}" type="slidenum">
              <a:rPr lang="it-IT" smtClean="0"/>
              <a:pPr algn="l"/>
              <a:t>‹N›</a:t>
            </a:fld>
            <a:r>
              <a:rPr lang="it-IT" dirty="0"/>
              <a:t xml:space="preserve"> </a:t>
            </a:r>
          </a:p>
        </p:txBody>
      </p:sp>
    </p:spTree>
    <p:extLst>
      <p:ext uri="{BB962C8B-B14F-4D97-AF65-F5344CB8AC3E}">
        <p14:creationId xmlns:p14="http://schemas.microsoft.com/office/powerpoint/2010/main" val="1580766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2">
              <a:lumMod val="10000"/>
            </a:schemeClr>
          </a:solidFill>
          <a:latin typeface="Rethink Sans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bg2">
              <a:lumMod val="10000"/>
            </a:schemeClr>
          </a:solidFill>
          <a:latin typeface="Rethink Sans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2">
              <a:lumMod val="10000"/>
            </a:schemeClr>
          </a:solidFill>
          <a:latin typeface="Rethink Sans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bg2">
              <a:lumMod val="10000"/>
            </a:schemeClr>
          </a:solidFill>
          <a:latin typeface="Rethink Sans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2">
              <a:lumMod val="10000"/>
            </a:schemeClr>
          </a:solidFill>
          <a:latin typeface="Rethink Sans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2">
              <a:lumMod val="10000"/>
            </a:schemeClr>
          </a:solidFill>
          <a:latin typeface="Rethink Sans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3908" userDrawn="1">
          <p15:clr>
            <a:srgbClr val="F26B43"/>
          </p15:clr>
        </p15:guide>
        <p15:guide id="3" pos="3772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orient="horz" pos="278" userDrawn="1">
          <p15:clr>
            <a:srgbClr val="F26B43"/>
          </p15:clr>
        </p15:guide>
        <p15:guide id="6" orient="horz" pos="2092" userDrawn="1">
          <p15:clr>
            <a:srgbClr val="F26B43"/>
          </p15:clr>
        </p15:guide>
        <p15:guide id="7" orient="horz" pos="346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  <p15:guide id="9" pos="7469" userDrawn="1">
          <p15:clr>
            <a:srgbClr val="F26B43"/>
          </p15:clr>
        </p15:guide>
        <p15:guide id="10" pos="211" userDrawn="1">
          <p15:clr>
            <a:srgbClr val="F26B43"/>
          </p15:clr>
        </p15:guide>
        <p15:guide id="11" pos="2525" userDrawn="1">
          <p15:clr>
            <a:srgbClr val="F26B43"/>
          </p15:clr>
        </p15:guide>
        <p15:guide id="12" pos="5155" userDrawn="1">
          <p15:clr>
            <a:srgbClr val="F26B43"/>
          </p15:clr>
        </p15:guide>
        <p15:guide id="13" pos="2661" userDrawn="1">
          <p15:clr>
            <a:srgbClr val="F26B43"/>
          </p15:clr>
        </p15:guide>
        <p15:guide id="14" pos="5019" userDrawn="1">
          <p15:clr>
            <a:srgbClr val="F26B43"/>
          </p15:clr>
        </p15:guide>
        <p15:guide id="15" orient="horz" pos="1480" userDrawn="1">
          <p15:clr>
            <a:srgbClr val="F26B43"/>
          </p15:clr>
        </p15:guide>
        <p15:guide id="16" orient="horz" pos="1593" userDrawn="1">
          <p15:clr>
            <a:srgbClr val="F26B43"/>
          </p15:clr>
        </p15:guide>
        <p15:guide id="17" orient="horz" pos="2840" userDrawn="1">
          <p15:clr>
            <a:srgbClr val="F26B43"/>
          </p15:clr>
        </p15:guide>
        <p15:guide id="18" orient="horz" pos="2727" userDrawn="1">
          <p15:clr>
            <a:srgbClr val="F26B43"/>
          </p15:clr>
        </p15:guide>
        <p15:guide id="19" orient="horz" pos="2228" userDrawn="1">
          <p15:clr>
            <a:srgbClr val="F26B43"/>
          </p15:clr>
        </p15:guide>
        <p15:guide id="20" orient="horz" pos="4042" userDrawn="1">
          <p15:clr>
            <a:srgbClr val="F26B43"/>
          </p15:clr>
        </p15:guide>
        <p15:guide id="21" orient="horz" pos="1139" userDrawn="1">
          <p15:clr>
            <a:srgbClr val="F26B43"/>
          </p15:clr>
        </p15:guide>
        <p15:guide id="22" pos="574" userDrawn="1">
          <p15:clr>
            <a:srgbClr val="F26B43"/>
          </p15:clr>
        </p15:guide>
        <p15:guide id="23" pos="7106" userDrawn="1">
          <p15:clr>
            <a:srgbClr val="F26B43"/>
          </p15:clr>
        </p15:guide>
        <p15:guide id="24" pos="4021" userDrawn="1">
          <p15:clr>
            <a:srgbClr val="F26B43"/>
          </p15:clr>
        </p15:guide>
        <p15:guide id="25" pos="3659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837B5F-387A-B24E-6807-C9116E5A43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>
                <a:latin typeface="Rethink Sans ExtraBold"/>
              </a:rPr>
              <a:t xml:space="preserve">AI-PIPELINE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5D5D7BF-7C9E-5076-70D6-1570096DA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225" y="3321051"/>
            <a:ext cx="7056439" cy="3095624"/>
          </a:xfrm>
        </p:spPr>
        <p:txBody>
          <a:bodyPr/>
          <a:lstStyle/>
          <a:p>
            <a:r>
              <a:rPr lang="it-IT" dirty="0" sz="1600"/>
              <a:t xml:space="preserve">Orchestratore Bash per pipeline AI multi-agente</a:t>
            </a: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E62BCACF-5A9A-7C86-4EBE-69A21351774D}"/>
              </a:ext>
            </a:extLst>
          </p:cNvPr>
          <p:cNvSpPr txBox="1">
            <a:spLocks/>
          </p:cNvSpPr>
          <p:nvPr/>
        </p:nvSpPr>
        <p:spPr>
          <a:xfrm>
            <a:off x="334964" y="549275"/>
            <a:ext cx="672201" cy="2771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  <a:endParaRPr lang="it-IT" dirty="0">
              <a:latin typeface="Rethink Sans ExtraBold" pitchFamily="2" charset="77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6FFE524-946A-5795-615A-6A6294D1A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76" y="5607292"/>
            <a:ext cx="792162" cy="80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211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3D45D-E462-5C95-52B1-3B7A9849C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41F113-0738-C4B6-4CF8-B42AE00CE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7056438" cy="1258887"/>
          </a:xfrm>
        </p:spPr>
        <p:txBody>
          <a:bodyPr anchor="t"/>
          <a:lstStyle/>
          <a:p>
            <a:r>
              <a:rPr lang="it-IT" dirty="0">
                <a:latin typeface="Rethink Sans ExtraBold"/>
              </a:rPr>
              <a:t xml:space="preserve">AGENDA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E9AAF4C5-CF3A-4B8E-C2CB-79E8F17E6731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3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EA7140A3-C438-5336-2CCF-7259EB83C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AI-PIPELINE</a:t>
            </a:r>
            <a:endParaRPr lang="it-IT" sz="800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222D909-0015-FE97-F6BB-BF494065664B}"/>
              </a:ext>
            </a:extLst>
          </p:cNvPr>
          <p:cNvSpPr/>
          <p:nvPr/>
        </p:nvSpPr>
        <p:spPr>
          <a:xfrm>
            <a:off x="6383338" y="1808163"/>
            <a:ext cx="5473700" cy="4500562"/>
          </a:xfrm>
          <a:prstGeom prst="rect">
            <a:avLst/>
          </a:prstGeom>
          <a:solidFill>
            <a:srgbClr val="0048F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Ins="360000" bIns="21600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it-IT" dirty="0" b="1" sz="1200">
                <a:solidFill>
                  <a:srgbClr val="0048FF"/>
                </a:solidFill>
              </a:rPr>
              <a:t xml:space="preserve">01// </a:t>
            </a:r>
            <a:r>
              <a:rPr lang="it-IT" dirty="0" sz="1200"/>
              <a:t xml:space="preserve">Visione &amp; Obiettivo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it-IT" dirty="0" b="1" sz="1200">
                <a:solidFill>
                  <a:srgbClr val="0048FF"/>
                </a:solidFill>
              </a:rPr>
              <a:t xml:space="preserve">02// </a:t>
            </a:r>
            <a:r>
              <a:rPr lang="it-IT" dirty="0" sz="1200"/>
              <a:t xml:space="preserve">Pipeline Overview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it-IT" dirty="0" b="1" sz="1200">
                <a:solidFill>
                  <a:srgbClr val="0048FF"/>
                </a:solidFill>
              </a:rPr>
              <a:t xml:space="preserve">03// </a:t>
            </a:r>
            <a:r>
              <a:rPr lang="it-IT" dirty="0" sz="1200"/>
              <a:t xml:space="preserve">I 6 Agenti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it-IT" dirty="0" b="1" sz="1200">
                <a:solidFill>
                  <a:srgbClr val="0048FF"/>
                </a:solidFill>
              </a:rPr>
              <a:t xml:space="preserve">04// </a:t>
            </a:r>
            <a:r>
              <a:rPr lang="it-IT" dirty="0" sz="1200"/>
              <a:t xml:space="preserve">Gate System &amp; Verdetti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it-IT" dirty="0" b="1" sz="1200">
                <a:solidFill>
                  <a:srgbClr val="0048FF"/>
                </a:solidFill>
              </a:rPr>
              <a:t xml:space="preserve">05// </a:t>
            </a:r>
            <a:r>
              <a:rPr lang="it-IT" dirty="0" sz="1200"/>
              <a:t xml:space="preserve">Prompt Assembly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it-IT" dirty="0" b="1" sz="1200">
                <a:solidFill>
                  <a:srgbClr val="0048FF"/>
                </a:solidFill>
              </a:rPr>
              <a:t xml:space="preserve">06// </a:t>
            </a:r>
            <a:r>
              <a:rPr lang="it-IT" dirty="0" sz="1200"/>
              <a:t xml:space="preserve">Verify &amp; Integration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it-IT" dirty="0" b="1" sz="1200">
                <a:solidFill>
                  <a:srgbClr val="0048FF"/>
                </a:solidFill>
              </a:rPr>
              <a:t xml:space="preserve">07// </a:t>
            </a:r>
            <a:r>
              <a:rPr lang="it-IT" dirty="0" sz="1200"/>
              <a:t xml:space="preserve">Retry &amp; Token Mgmt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it-IT" dirty="0" b="1" sz="1200">
                <a:solidFill>
                  <a:srgbClr val="0048FF"/>
                </a:solidFill>
              </a:rPr>
              <a:t xml:space="preserve">08// </a:t>
            </a:r>
            <a:r>
              <a:rPr lang="it-IT" dirty="0" sz="1200"/>
              <a:t xml:space="preserve">Configurazione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it-IT" dirty="0" b="1" sz="1200">
                <a:solidFill>
                  <a:srgbClr val="0048FF"/>
                </a:solidFill>
              </a:rPr>
              <a:t xml:space="preserve">09// </a:t>
            </a:r>
            <a:r>
              <a:rPr lang="it-IT" dirty="0" sz="1200"/>
              <a:t xml:space="preserve">Playwright &amp; QA Visiva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it-IT" dirty="0" b="1" sz="1200">
                <a:solidFill>
                  <a:srgbClr val="0048FF"/>
                </a:solidFill>
              </a:rPr>
              <a:t xml:space="preserve">10// </a:t>
            </a:r>
            <a:r>
              <a:rPr lang="it-IT" dirty="0" sz="1200"/>
              <a:t xml:space="preserve">TUI, State &amp; Batch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it-IT" dirty="0" b="1" sz="1200">
                <a:solidFill>
                  <a:srgbClr val="0048FF"/>
                </a:solidFill>
              </a:rPr>
              <a:t xml:space="preserve">11// </a:t>
            </a:r>
            <a:r>
              <a:rPr lang="it-IT" dirty="0" sz="1200"/>
              <a:t xml:space="preserve">Struttura del Progetto</a:t>
            </a:r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C55DB347-9CB6-35B9-1978-2718EA26D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6" y="1808164"/>
            <a:ext cx="4897437" cy="45005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 sz="1100">
                <a:solidFill>
                  <a:srgbClr val="666666"/>
                </a:solidFill>
              </a:rPr>
              <a:t xml:space="preserve">Panoramica completa dell'architettura e del funzionamento della pipeline.</a:t>
            </a:r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E14E6042-7AFF-73B1-B00D-13AFF55B2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B9E84501-114B-E911-1708-E805B3C70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 xml:space="preserve">// </a:t>
            </a:r>
            <a:fld id="{B0379C00-A7F0-FC4A-A315-5F593AF20193}" type="slidenum">
              <a:rPr lang="it-IT" smtClean="0"/>
              <a:pPr algn="l"/>
              <a:t>4</a:t>
            </a:fld>
            <a:r>
              <a:rPr lang="it-IT"/>
              <a:t xml:space="preserve"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30920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837B5F-387A-B24E-6807-C9116E5A43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>
                <a:latin typeface="Rethink Sans ExtraBold"/>
              </a:rPr>
              <a:t xml:space="preserve">AI-PIPELINE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5D5D7BF-7C9E-5076-70D6-1570096DA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225" y="3321051"/>
            <a:ext cx="7056439" cy="3095624"/>
          </a:xfrm>
        </p:spPr>
        <p:txBody>
          <a:bodyPr/>
          <a:lstStyle/>
          <a:p>
            <a:r>
              <a:rPr lang="it-IT" dirty="0" sz="1600"/>
              <a:t xml:space="preserve">github.com/anthropics/ai-pipeline</a:t>
            </a: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E62BCACF-5A9A-7C86-4EBE-69A21351774D}"/>
              </a:ext>
            </a:extLst>
          </p:cNvPr>
          <p:cNvSpPr txBox="1">
            <a:spLocks/>
          </p:cNvSpPr>
          <p:nvPr/>
        </p:nvSpPr>
        <p:spPr>
          <a:xfrm>
            <a:off x="334964" y="549275"/>
            <a:ext cx="672201" cy="2771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  <a:endParaRPr lang="it-IT" dirty="0">
              <a:latin typeface="Rethink Sans ExtraBold" pitchFamily="2" charset="77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6FFE524-946A-5795-615A-6A6294D1A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76" y="5607292"/>
            <a:ext cx="792162" cy="80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211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39516E-0EC5-E9F9-043E-A584E0F64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7056438" cy="1258887"/>
          </a:xfrm>
        </p:spPr>
        <p:txBody>
          <a:bodyPr anchor="t"/>
          <a:lstStyle/>
          <a:p>
            <a:r>
              <a:rPr lang="it-IT" dirty="0">
                <a:latin typeface="Rethink Sans ExtraBold"/>
              </a:rPr>
              <a:t xml:space="preserve">Visione &amp; Obiettivo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156973-FAB9-AFED-06F7-E6C491D3A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6" y="2528887"/>
            <a:ext cx="7056438" cy="3779838"/>
          </a:xfrm>
        </p:spPr>
        <p:txBody>
          <a:bodyPr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Il Problema</a:t>
            </a:r>
          </a:p>
          <a:p>
            <a:pPr marL="0" indent="0">
              <a:buNone/>
            </a:pPr>
            <a:r>
              <a:rPr lang="it-IT" dirty="0" sz="1100"/>
              <a:t xml:space="preserve">Sviluppare feature production-grade richiede un processo strutturato: specifica, review, implementazione, QA, fix. Ogni passaggio manuale introduce ritardi, inconsistenze e costi elevati.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La Soluzione</a:t>
            </a:r>
          </a:p>
          <a:p>
            <a:pPr marL="0" indent="0">
              <a:buNone/>
            </a:pPr>
            <a:r>
              <a:rPr lang="it-IT" dirty="0" sz="1100"/>
              <a:t xml:space="preserve">ai-pipeline è un orchestratore Bash che coordina 6 agenti AI specializzati in una pipeline sequenziale con gate binari (APPROVED/REJECTED). Ogni agente riceve un prompt costruito dinamicamente e produce un artefatto validato prima di passare al prossimo step.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Obiettivi Chiave</a:t>
            </a:r>
          </a:p>
          <a:p>
            <a:pPr marL="0" indent="0">
              <a:buNone/>
            </a:pPr>
            <a:r>
              <a:rPr lang="it-IT" dirty="0" sz="1100"/>
              <a:t xml:space="preserve">• Zero intervento umano: dalla feature brief al codice production-ready</a:t>
            </a:r>
          </a:p>
          <a:p>
            <a:pPr marL="0" indent="0">
              <a:buNone/>
            </a:pPr>
            <a:r>
              <a:rPr lang="it-IT" dirty="0" sz="1100"/>
              <a:t xml:space="preserve">• Qualità garantita: gate + verify + retry automatico con model escalation</a:t>
            </a:r>
          </a:p>
          <a:p>
            <a:pPr marL="0" indent="0">
              <a:buNone/>
            </a:pPr>
            <a:r>
              <a:rPr lang="it-IT" dirty="0" sz="1100"/>
              <a:t xml:space="preserve">• Osservabilità: TUI rich, token tracking, notifiche cross-platform</a:t>
            </a:r>
          </a:p>
          <a:p>
            <a:pPr marL="0" indent="0">
              <a:buNone/>
            </a:pPr>
            <a:r>
              <a:rPr lang="it-IT" dirty="0" sz="1100"/>
              <a:t xml:space="preserve">• Flessibilità: multi-provider (Anthropic, Kimi, Ollama), prompt configurabili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67CBC105-AF4C-4C42-092F-B3F731F06104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3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B7558C4D-A92C-19FF-C415-55CF29960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AI-PIPELINE</a:t>
            </a:r>
            <a:endParaRPr lang="it-IT" sz="80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8F411DBE-4F2F-7F82-D0AA-57FF874F2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343" y="6681415"/>
            <a:ext cx="633314" cy="144000"/>
          </a:xfrm>
          <a:prstGeom prst="rect">
            <a:avLst/>
          </a:prstGeom>
        </p:spPr>
      </p:pic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E44588D4-5942-D119-FC02-888025DFE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FA06FF31-7312-B567-2F04-AF956517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 xml:space="preserve">// </a:t>
            </a:r>
            <a:fld id="{B0379C00-A7F0-FC4A-A315-5F593AF20193}" type="slidenum">
              <a:rPr lang="it-IT" smtClean="0"/>
              <a:pPr algn="l"/>
              <a:t>3</a:t>
            </a:fld>
            <a:r>
              <a:rPr lang="it-IT"/>
              <a:t xml:space="preserve"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16389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39516E-0EC5-E9F9-043E-A584E0F64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7056438" cy="1258887"/>
          </a:xfrm>
        </p:spPr>
        <p:txBody>
          <a:bodyPr anchor="t"/>
          <a:lstStyle/>
          <a:p>
            <a:r>
              <a:rPr lang="it-IT" dirty="0">
                <a:latin typeface="Rethink Sans ExtraBold"/>
              </a:rPr>
              <a:t xml:space="preserve">Gate System &amp; Verdetti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156973-FAB9-AFED-06F7-E6C491D3A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6" y="2528887"/>
            <a:ext cx="7056438" cy="3779838"/>
          </a:xfrm>
        </p:spPr>
        <p:txBody>
          <a:bodyPr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Verdetto Binario</a:t>
            </a:r>
          </a:p>
          <a:p>
            <a:pPr marL="0" indent="0">
              <a:buNone/>
            </a:pPr>
            <a:r>
              <a:rPr lang="it-IT" dirty="0" sz="1100"/>
              <a:t xml:space="preserve">Ogni step di review produce un file .verdict separato dal report markdown. La pipeline legge il verdetto con tr -d '[:space:]' + case match.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Regole Fail-Safe</a:t>
            </a:r>
          </a:p>
          <a:p>
            <a:pPr marL="0" indent="0">
              <a:buNone/>
            </a:pPr>
            <a:r>
              <a:rPr lang="it-IT" dirty="0" sz="1100"/>
              <a:t xml:space="preserve">• APPROVED → procedi al prossimo step</a:t>
            </a:r>
          </a:p>
          <a:p>
            <a:pPr marL="0" indent="0">
              <a:buNone/>
            </a:pPr>
            <a:r>
              <a:rPr lang="it-IT" dirty="0" sz="1100"/>
              <a:t xml:space="preserve">• REJECTED → loop di retry con feedback strutturato</a:t>
            </a:r>
          </a:p>
          <a:p>
            <a:pPr marL="0" indent="0">
              <a:buNone/>
            </a:pPr>
            <a:r>
              <a:rPr lang="it-IT" dirty="0" sz="1100"/>
              <a:t xml:space="preserve">• MISSING o malformato → trattato come REJECTED</a:t>
            </a:r>
          </a:p>
          <a:p>
            <a:pPr marL="0" indent="0">
              <a:buNone/>
            </a:pPr>
            <a:r>
              <a:rPr lang="it-IT" dirty="0" sz="1100"/>
              <a:t xml:space="preserve">• Il verdetto è fisicamente separato dal report (file .verdict)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Gate Instruction</a:t>
            </a:r>
          </a:p>
          <a:p>
            <a:pPr marL="0" indent="0">
              <a:buNone/>
            </a:pPr>
            <a:r>
              <a:rPr lang="it-IT" dirty="0" sz="1100"/>
              <a:t xml:space="preserve">La pipeline inietta un blocco obbligatorio alla fine del prompt di ogni reviewer con i path esatti dei file .verdict e del report.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67CBC105-AF4C-4C42-092F-B3F731F06104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3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B7558C4D-A92C-19FF-C415-55CF29960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AI-PIPELINE</a:t>
            </a:r>
            <a:endParaRPr lang="it-IT" sz="80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8F411DBE-4F2F-7F82-D0AA-57FF874F2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343" y="6681415"/>
            <a:ext cx="633314" cy="144000"/>
          </a:xfrm>
          <a:prstGeom prst="rect">
            <a:avLst/>
          </a:prstGeom>
        </p:spPr>
      </p:pic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E44588D4-5942-D119-FC02-888025DFE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FA06FF31-7312-B567-2F04-AF956517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 xml:space="preserve">// </a:t>
            </a:r>
            <a:fld id="{B0379C00-A7F0-FC4A-A315-5F593AF20193}" type="slidenum">
              <a:rPr lang="it-IT" smtClean="0"/>
              <a:pPr algn="l"/>
              <a:t>3</a:t>
            </a:fld>
            <a:r>
              <a:rPr lang="it-IT"/>
              <a:t xml:space="preserve"> </a:t>
            </a:r>
            <a:endParaRPr lang="it-IT" dirty="0"/>
          </a:p>
        </p:txBody>
      </p:sp>
      <p:sp>
        <p:nvSpPr>
          <p:cNvPr id="101" name="CodeBlock 101"/>
          <p:cNvSpPr/>
          <p:nvPr/>
        </p:nvSpPr>
        <p:spPr>
          <a:xfrm>
            <a:off x="8200000" y="2600000"/>
            <a:ext cx="3600000" cy="24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0">
            <a:noFill/>
          </a:ln>
        </p:spPr>
        <p:txBody>
          <a:bodyPr lIns="180000" tIns="108000" rIns="180000" bIns="108000" anchor="t">
            <a:normAutofit fontScale="70000" lnSpcReduction="20000"/>
          </a:bodyPr>
          <a:lstStyle/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verdict_read() {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  local raw verdict_file="$1"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  raw=$(tr -d '[:space:]' &lt; "$verdict_file")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  case "$raw" in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    APPROVED) echo "APPROVED" ;;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    REJECTED) echo "REJECTED" ;;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    *)        echo "MISSING"  ;;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  esac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}</a:t>
            </a:r>
          </a:p>
        </p:txBody>
      </p:sp>
    </p:spTree>
    <p:extLst>
      <p:ext uri="{BB962C8B-B14F-4D97-AF65-F5344CB8AC3E}">
        <p14:creationId xmlns:p14="http://schemas.microsoft.com/office/powerpoint/2010/main" val="1216389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39516E-0EC5-E9F9-043E-A584E0F64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7056438" cy="1258887"/>
          </a:xfrm>
        </p:spPr>
        <p:txBody>
          <a:bodyPr anchor="t"/>
          <a:lstStyle/>
          <a:p>
            <a:r>
              <a:rPr lang="it-IT" dirty="0">
                <a:latin typeface="Rethink Sans ExtraBold"/>
              </a:rPr>
              <a:t xml:space="preserve">Verify &amp; Integration Check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156973-FAB9-AFED-06F7-E6C491D3A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6" y="2528887"/>
            <a:ext cx="7056438" cy="3779838"/>
          </a:xfrm>
        </p:spPr>
        <p:txBody>
          <a:bodyPr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Verify: Check Deterministici</a:t>
            </a:r>
          </a:p>
          <a:p>
            <a:pPr marL="0" indent="0">
              <a:buNone/>
            </a:pPr>
            <a:r>
              <a:rPr lang="it-IT" dirty="0" sz="1100"/>
              <a:t xml:space="preserve">Dopo ogni step dev/dev-fix, la pipeline esegue comandi configurati (lint, build, test). Se falliscono, gli errori vengono iniettati nel prompt di retry.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Integration Check</a:t>
            </a:r>
          </a:p>
          <a:p>
            <a:pPr marL="0" indent="0">
              <a:buNone/>
            </a:pPr>
            <a:r>
              <a:rPr lang="it-IT" dirty="0" sz="1100"/>
              <a:t xml:space="preserve">Dopo il completamento della pipeline, gli stessi comandi vengono rieseguiti come sanity check finale. Warn-only: non blocca la pipeline ma segnala problemi residui.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Configurazione in pipeline.yaml</a:t>
            </a:r>
          </a:p>
          <a:p>
            <a:pPr marL="0" indent="0">
              <a:buNone/>
            </a:pPr>
            <a:r>
              <a:rPr lang="it-IT" dirty="0" sz="1100"/>
              <a:t xml:space="preserve">• verify.enabled: true/false</a:t>
            </a:r>
          </a:p>
          <a:p>
            <a:pPr marL="0" indent="0">
              <a:buNone/>
            </a:pPr>
            <a:r>
              <a:rPr lang="it-IT" dirty="0" sz="1100"/>
              <a:t xml:space="preserve">• verify.commands: lista {name, cmd}</a:t>
            </a:r>
          </a:p>
          <a:p>
            <a:pPr marL="0" indent="0">
              <a:buNone/>
            </a:pPr>
            <a:r>
              <a:rPr lang="it-IT" dirty="0" sz="1100"/>
              <a:t xml:space="preserve">• verify.after_steps: [dev, dev-fix]</a:t>
            </a:r>
          </a:p>
          <a:p>
            <a:pPr marL="0" indent="0">
              <a:buNone/>
            </a:pPr>
            <a:r>
              <a:rPr lang="it-IT" dirty="0" sz="1100"/>
              <a:t xml:space="preserve">• Errori troncati a 3000 char nel prompt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67CBC105-AF4C-4C42-092F-B3F731F06104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3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B7558C4D-A92C-19FF-C415-55CF29960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AI-PIPELINE</a:t>
            </a:r>
            <a:endParaRPr lang="it-IT" sz="80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8F411DBE-4F2F-7F82-D0AA-57FF874F2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343" y="6681415"/>
            <a:ext cx="633314" cy="144000"/>
          </a:xfrm>
          <a:prstGeom prst="rect">
            <a:avLst/>
          </a:prstGeom>
        </p:spPr>
      </p:pic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E44588D4-5942-D119-FC02-888025DFE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FA06FF31-7312-B567-2F04-AF956517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 xml:space="preserve">// </a:t>
            </a:r>
            <a:fld id="{B0379C00-A7F0-FC4A-A315-5F593AF20193}" type="slidenum">
              <a:rPr lang="it-IT" smtClean="0"/>
              <a:pPr algn="l"/>
              <a:t>3</a:t>
            </a:fld>
            <a:r>
              <a:rPr lang="it-IT"/>
              <a:t xml:space="preserve"> </a:t>
            </a:r>
            <a:endParaRPr lang="it-IT" dirty="0"/>
          </a:p>
        </p:txBody>
      </p:sp>
      <p:sp>
        <p:nvSpPr>
          <p:cNvPr id="102" name="CodeBlock 102"/>
          <p:cNvSpPr/>
          <p:nvPr/>
        </p:nvSpPr>
        <p:spPr>
          <a:xfrm>
            <a:off x="8200000" y="2600000"/>
            <a:ext cx="3600000" cy="32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0">
            <a:noFill/>
          </a:ln>
        </p:spPr>
        <p:txBody>
          <a:bodyPr lIns="180000" tIns="108000" rIns="180000" bIns="108000" anchor="t">
            <a:normAutofit fontScale="70000" lnSpcReduction="20000"/>
          </a:bodyPr>
          <a:lstStyle/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# pipeline.yaml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verify: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  enabled: true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  commands: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    - name: lint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      cmd: "pnpm lint --no-fix"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    - name: build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      cmd: "pnpm build"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    - name: test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      cmd: "pnpm test --run"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  after_steps: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    - dev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D4D4D4"/>
                </a:solidFill>
                <a:latin typeface="Sometype Mono"/>
              </a:rPr>
              <a:t xml:space="preserve">    - dev-fix</a:t>
            </a:r>
          </a:p>
        </p:txBody>
      </p:sp>
    </p:spTree>
    <p:extLst>
      <p:ext uri="{BB962C8B-B14F-4D97-AF65-F5344CB8AC3E}">
        <p14:creationId xmlns:p14="http://schemas.microsoft.com/office/powerpoint/2010/main" val="1216389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39516E-0EC5-E9F9-043E-A584E0F64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7056438" cy="1258887"/>
          </a:xfrm>
        </p:spPr>
        <p:txBody>
          <a:bodyPr anchor="t"/>
          <a:lstStyle/>
          <a:p>
            <a:r>
              <a:rPr lang="it-IT" dirty="0">
                <a:latin typeface="Rethink Sans ExtraBold"/>
              </a:rPr>
              <a:t xml:space="preserve">Retry, Escalation &amp; Token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156973-FAB9-AFED-06F7-E6C491D3A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6" y="2528887"/>
            <a:ext cx="7056438" cy="3779838"/>
          </a:xfrm>
        </p:spPr>
        <p:txBody>
          <a:bodyPr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Retry Loop</a:t>
            </a:r>
          </a:p>
          <a:p>
            <a:pPr marL="0" indent="0">
              <a:buNone/>
            </a:pPr>
            <a:r>
              <a:rPr lang="it-IT" dirty="0" sz="1100"/>
              <a:t xml:space="preserve">Ogni step con gate supporta max_retries (default 3). Il feedback REJECTED viene iniettato nel prompt come REV-001, REV-002... con istruzioni obbligatorie di ri-validazione.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Model Escalation</a:t>
            </a:r>
          </a:p>
          <a:p>
            <a:pPr marL="0" indent="0">
              <a:buNone/>
            </a:pPr>
            <a:r>
              <a:rPr lang="it-IT" dirty="0" sz="1100"/>
              <a:t xml:space="preserve">Se configurato model_on_retry, dopo il primo fallimento il modello viene promosso (es. sonnet → opus) per aumentare la qualità nelle correzioni.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Token Exhaustion</a:t>
            </a:r>
          </a:p>
          <a:p>
            <a:pPr marL="0" indent="0">
              <a:buNone/>
            </a:pPr>
            <a:r>
              <a:rPr lang="it-IT" dirty="0" sz="1100"/>
              <a:t xml:space="preserve">Se Claude esaurisce i token (exit code 75 o pattern "token" in stderr), la pipeline attiva un backoff esponenziale: base_delay × 2^(attempt-1) con countdown live nel terminale.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Token Tracking</a:t>
            </a:r>
          </a:p>
          <a:p>
            <a:pPr marL="0" indent="0">
              <a:buNone/>
            </a:pPr>
            <a:r>
              <a:rPr lang="it-IT" dirty="0" sz="1100"/>
              <a:t xml:space="preserve">• Input/output tokens tracciati per ogni step in state.json</a:t>
            </a:r>
          </a:p>
          <a:p>
            <a:pPr marL="0" indent="0">
              <a:buNone/>
            </a:pPr>
            <a:r>
              <a:rPr lang="it-IT" dirty="0" sz="1100"/>
              <a:t xml:space="preserve">• Totale mostrato nel box di completamento</a:t>
            </a:r>
          </a:p>
          <a:p>
            <a:pPr marL="0" indent="0">
              <a:buNone/>
            </a:pPr>
            <a:r>
              <a:rPr lang="it-IT" dirty="0" sz="1100"/>
              <a:t xml:space="preserve">• Costo stimato calcolato per provider ($/M token)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67CBC105-AF4C-4C42-092F-B3F731F06104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3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B7558C4D-A92C-19FF-C415-55CF29960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AI-PIPELINE</a:t>
            </a:r>
            <a:endParaRPr lang="it-IT" sz="80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8F411DBE-4F2F-7F82-D0AA-57FF874F2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343" y="6681415"/>
            <a:ext cx="633314" cy="144000"/>
          </a:xfrm>
          <a:prstGeom prst="rect">
            <a:avLst/>
          </a:prstGeom>
        </p:spPr>
      </p:pic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E44588D4-5942-D119-FC02-888025DFE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FA06FF31-7312-B567-2F04-AF956517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 xml:space="preserve">// </a:t>
            </a:r>
            <a:fld id="{B0379C00-A7F0-FC4A-A315-5F593AF20193}" type="slidenum">
              <a:rPr lang="it-IT" smtClean="0"/>
              <a:pPr algn="l"/>
              <a:t>3</a:t>
            </a:fld>
            <a:r>
              <a:rPr lang="it-IT"/>
              <a:t xml:space="preserve"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16389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39516E-0EC5-E9F9-043E-A584E0F64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7056438" cy="1258887"/>
          </a:xfrm>
        </p:spPr>
        <p:txBody>
          <a:bodyPr anchor="t"/>
          <a:lstStyle/>
          <a:p>
            <a:r>
              <a:rPr lang="it-IT" dirty="0">
                <a:latin typeface="Rethink Sans ExtraBold"/>
              </a:rPr>
              <a:t xml:space="preserve">TUI, State &amp; Batch Mode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156973-FAB9-AFED-06F7-E6C491D3A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6" y="2528887"/>
            <a:ext cx="7056438" cy="3779838"/>
          </a:xfrm>
        </p:spPr>
        <p:txBody>
          <a:bodyPr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Terminal UI (display.sh)</a:t>
            </a:r>
          </a:p>
          <a:p>
            <a:pPr marL="0" indent="0">
              <a:buNone/>
            </a:pPr>
            <a:r>
              <a:rPr lang="it-IT" dirty="0" sz="1100"/>
              <a:t xml:space="preserve">• Progress bar colorata con percentuale e step corrente</a:t>
            </a:r>
          </a:p>
          <a:p>
            <a:pPr marL="0" indent="0">
              <a:buNone/>
            </a:pPr>
            <a:r>
              <a:rPr lang="it-IT" dirty="0" sz="1100"/>
              <a:t xml:space="preserve">• Spinner live a 2 righe: tool in uso + stato Playwright</a:t>
            </a:r>
          </a:p>
          <a:p>
            <a:pPr marL="0" indent="0">
              <a:buNone/>
            </a:pPr>
            <a:r>
              <a:rPr lang="it-IT" dirty="0" sz="1100"/>
              <a:t xml:space="preserve">• Emoji per agente: 🎯 PM, 🔍 DR-SPEC, 💻 DEV, 🔎 DR-IMPL, ✅ QA, 🔧 DEV-FIX</a:t>
            </a:r>
          </a:p>
          <a:p>
            <a:pPr marL="0" indent="0">
              <a:buNone/>
            </a:pPr>
            <a:r>
              <a:rPr lang="it-IT" dirty="0" sz="1100"/>
              <a:t xml:space="preserve">• File changes con git diff stat a fine step</a:t>
            </a:r>
          </a:p>
          <a:p>
            <a:pPr marL="0" indent="0">
              <a:buNone/>
            </a:pPr>
            <a:r>
              <a:rPr lang="it-IT" dirty="0" sz="1100"/>
              <a:t xml:space="preserve">• Box completamento con token totali e costo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State Management (state.sh)</a:t>
            </a:r>
          </a:p>
          <a:p>
            <a:pPr marL="0" indent="0">
              <a:buNone/>
            </a:pPr>
            <a:r>
              <a:rPr lang="it-IT" dirty="0" sz="1100"/>
              <a:t xml:space="preserve">• state.json: stato pipeline, step corrente, token per step, timestamp</a:t>
            </a:r>
          </a:p>
          <a:p>
            <a:pPr marL="0" indent="0">
              <a:buNone/>
            </a:pPr>
            <a:r>
              <a:rPr lang="it-IT" dirty="0" sz="1100"/>
              <a:t xml:space="preserve">• batch-state.json: stato batch multi-feature</a:t>
            </a:r>
          </a:p>
          <a:p>
            <a:pPr marL="0" indent="0">
              <a:buNone/>
            </a:pPr>
            <a:r>
              <a:rPr lang="it-IT" dirty="0" sz="1100"/>
              <a:t xml:space="preserve">• Persistente: resume con --from &lt;step&gt;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Batch Mode</a:t>
            </a:r>
          </a:p>
          <a:p>
            <a:pPr marL="0" indent="0">
              <a:buNone/>
            </a:pPr>
            <a:r>
              <a:rPr lang="it-IT" dirty="0" sz="1100"/>
              <a:t xml:space="preserve">• --batch-file features.txt: esecuzione sequenziale multi-feature</a:t>
            </a:r>
          </a:p>
          <a:p>
            <a:pPr marL="0" indent="0">
              <a:buNone/>
            </a:pPr>
            <a:r>
              <a:rPr lang="it-IT" dirty="0" sz="1100"/>
              <a:t xml:space="preserve">• --continue-on-error: prosegui anche se una feature fallisce</a:t>
            </a:r>
          </a:p>
          <a:p>
            <a:pPr marL="0" indent="0">
              <a:buNone/>
            </a:pPr>
            <a:r>
              <a:rPr lang="it-IT" dirty="0" sz="1100"/>
              <a:t xml:space="preserve">• Summary finale: feature completate, fallite, skipped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Notifiche</a:t>
            </a:r>
          </a:p>
          <a:p>
            <a:pPr marL="0" indent="0">
              <a:buNone/>
            </a:pPr>
            <a:r>
              <a:rPr lang="it-IT" dirty="0" sz="1100"/>
              <a:t xml:space="preserve">macOS (osascript), Linux (notify-send), Webhook HTTP. Inviate su completamento, errore e gate.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67CBC105-AF4C-4C42-092F-B3F731F06104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3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B7558C4D-A92C-19FF-C415-55CF29960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AI-PIPELINE</a:t>
            </a:r>
            <a:endParaRPr lang="it-IT" sz="80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8F411DBE-4F2F-7F82-D0AA-57FF874F2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343" y="6681415"/>
            <a:ext cx="633314" cy="144000"/>
          </a:xfrm>
          <a:prstGeom prst="rect">
            <a:avLst/>
          </a:prstGeom>
        </p:spPr>
      </p:pic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E44588D4-5942-D119-FC02-888025DFE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FA06FF31-7312-B567-2F04-AF956517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 xml:space="preserve">// </a:t>
            </a:r>
            <a:fld id="{B0379C00-A7F0-FC4A-A315-5F593AF20193}" type="slidenum">
              <a:rPr lang="it-IT" smtClean="0"/>
              <a:pPr algn="l"/>
              <a:t>3</a:t>
            </a:fld>
            <a:r>
              <a:rPr lang="it-IT"/>
              <a:t xml:space="preserve"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16389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0269C-6770-0E81-D4C9-796464B63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20921D-0A38-123B-DA7A-14462D064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7056438" cy="1258887"/>
          </a:xfrm>
        </p:spPr>
        <p:txBody>
          <a:bodyPr anchor="t"/>
          <a:lstStyle/>
          <a:p>
            <a:r>
              <a:rPr lang="it-IT" dirty="0">
                <a:latin typeface="Rethink Sans ExtraBold"/>
              </a:rPr>
              <a:t xml:space="preserve">Pipeline Overview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7AC5BF-CF10-F52F-6EDC-D89023C32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5" y="2349499"/>
            <a:ext cx="4897438" cy="3959225"/>
          </a:xfrm>
        </p:spPr>
        <p:txBody>
          <a:bodyPr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Flusso Sequenziale</a:t>
            </a:r>
          </a:p>
          <a:p>
            <a:pPr marL="0" indent="0">
              <a:buNone/>
            </a:pPr>
            <a:r>
              <a:rPr lang="it-IT" dirty="0" sz="1100"/>
              <a:t xml:space="preserve">La pipeline esegue 6 step in sequenza rigorosa. Ogni step con gate deve ricevere APPROVED per procedere.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b="1" sz="1100">
                <a:solidFill>
                  <a:srgbClr val="0048FF"/>
                </a:solidFill>
              </a:rPr>
              <a:t xml:space="preserve">PM</a:t>
            </a:r>
            <a:r>
              <a:rPr lang="it-IT" dirty="0" sz="1100"/>
              <a:t xml:space="preserve">  →  Specifica funzionale</a:t>
            </a:r>
          </a:p>
          <a:p>
            <a:pPr marL="0" indent="0">
              <a:buNone/>
            </a:pPr>
            <a:r>
              <a:rPr lang="it-IT" dirty="0" b="1" sz="1100">
                <a:solidFill>
                  <a:srgbClr val="0048FF"/>
                </a:solidFill>
              </a:rPr>
              <a:t xml:space="preserve">DR-SPEC</a:t>
            </a:r>
            <a:r>
              <a:rPr lang="it-IT" dirty="0" sz="1100"/>
              <a:t xml:space="preserve">  →  Review della specifica</a:t>
            </a:r>
          </a:p>
          <a:p>
            <a:pPr marL="0" indent="0">
              <a:buNone/>
            </a:pPr>
            <a:r>
              <a:rPr lang="it-IT" dirty="0" b="1" sz="1100">
                <a:solidFill>
                  <a:srgbClr val="0048FF"/>
                </a:solidFill>
              </a:rPr>
              <a:t xml:space="preserve">DEV</a:t>
            </a:r>
            <a:r>
              <a:rPr lang="it-IT" dirty="0" sz="1100"/>
              <a:t xml:space="preserve">  →  Implementazione</a:t>
            </a:r>
          </a:p>
          <a:p>
            <a:pPr marL="0" indent="0">
              <a:buNone/>
            </a:pPr>
            <a:r>
              <a:rPr lang="it-IT" dirty="0" b="1" sz="1100">
                <a:solidFill>
                  <a:srgbClr val="0048FF"/>
                </a:solidFill>
              </a:rPr>
              <a:t xml:space="preserve">DR-IMPL</a:t>
            </a:r>
            <a:r>
              <a:rPr lang="it-IT" dirty="0" sz="1100"/>
              <a:t xml:space="preserve">  →  Review implementazione</a:t>
            </a:r>
          </a:p>
          <a:p>
            <a:pPr marL="0" indent="0">
              <a:buNone/>
            </a:pPr>
            <a:r>
              <a:rPr lang="it-IT" dirty="0" b="1" sz="1100">
                <a:solidFill>
                  <a:srgbClr val="0048FF"/>
                </a:solidFill>
              </a:rPr>
              <a:t xml:space="preserve">QA</a:t>
            </a:r>
            <a:r>
              <a:rPr lang="it-IT" dirty="0" sz="1100"/>
              <a:t xml:space="preserve">  →  Quality Assurance finale</a:t>
            </a:r>
          </a:p>
          <a:p>
            <a:pPr marL="0" indent="0">
              <a:buNone/>
            </a:pPr>
            <a:r>
              <a:rPr lang="it-IT" dirty="0" b="1" sz="1100">
                <a:solidFill>
                  <a:srgbClr val="0048FF"/>
                </a:solidFill>
              </a:rPr>
              <a:t xml:space="preserve">DEV-FIX</a:t>
            </a:r>
            <a:r>
              <a:rPr lang="it-IT" dirty="0" sz="1100"/>
              <a:t xml:space="preserve">  →  Correzioni post-QA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7962063A-C6C5-CA24-DAA1-EF3FB954B25B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4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644AEBDE-5A20-2B23-B956-2AD97106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AI-PIPELINE</a:t>
            </a:r>
            <a:endParaRPr lang="it-IT" sz="800" dirty="0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B1CAEF88-5086-68A8-986D-8119CC89D192}"/>
              </a:ext>
            </a:extLst>
          </p:cNvPr>
          <p:cNvSpPr txBox="1">
            <a:spLocks/>
          </p:cNvSpPr>
          <p:nvPr/>
        </p:nvSpPr>
        <p:spPr>
          <a:xfrm>
            <a:off x="6383338" y="2357438"/>
            <a:ext cx="4897437" cy="4500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Architettura</a:t>
            </a:r>
          </a:p>
          <a:p>
            <a:pPr marL="0" indent="0">
              <a:buNone/>
            </a:pPr>
            <a:r>
              <a:rPr lang="it-IT" dirty="0" sz="1100"/>
              <a:t xml:space="preserve">pipeline.sh orchestra il flusso sourcing 9 librerie da lib/:</a:t>
            </a:r>
          </a:p>
          <a:p>
            <a:pPr marL="0" indent="0">
              <a:buNone/>
            </a:pPr>
            <a:r>
              <a:rPr lang="it-IT" dirty="0" sz="1100"/>
              <a:t xml:space="preserve">• config.sh — parser YAML via python3</a:t>
            </a:r>
          </a:p>
          <a:p>
            <a:pPr marL="0" indent="0">
              <a:buNone/>
            </a:pPr>
            <a:r>
              <a:rPr lang="it-IT" dirty="0" sz="1100"/>
              <a:t xml:space="preserve">• state.sh — state.json + batch-state.json</a:t>
            </a:r>
          </a:p>
          <a:p>
            <a:pPr marL="0" indent="0">
              <a:buNone/>
            </a:pPr>
            <a:r>
              <a:rPr lang="it-IT" dirty="0" sz="1100"/>
              <a:t xml:space="preserve">• display.sh — TUI rich (progress, spinner, emoji)</a:t>
            </a:r>
          </a:p>
          <a:p>
            <a:pPr marL="0" indent="0">
              <a:buNone/>
            </a:pPr>
            <a:r>
              <a:rPr lang="it-IT" dirty="0" sz="1100"/>
              <a:t xml:space="preserve">• claude.sh — invocazione CLI + token tracking</a:t>
            </a:r>
          </a:p>
          <a:p>
            <a:pPr marL="0" indent="0">
              <a:buNone/>
            </a:pPr>
            <a:r>
              <a:rPr lang="it-IT" dirty="0" sz="1100"/>
              <a:t xml:space="preserve">• prompt.sh — composizione dinamica prompt</a:t>
            </a:r>
          </a:p>
          <a:p>
            <a:pPr marL="0" indent="0">
              <a:buNone/>
            </a:pPr>
            <a:r>
              <a:rPr lang="it-IT" dirty="0" sz="1100"/>
              <a:t xml:space="preserve">• verdict.sh — lettura verdetto + gate instruction</a:t>
            </a:r>
          </a:p>
          <a:p>
            <a:pPr marL="0" indent="0">
              <a:buNone/>
            </a:pPr>
            <a:r>
              <a:rPr lang="it-IT" dirty="0" sz="1100"/>
              <a:t xml:space="preserve">• verify.sh — lint/build/test deterministici</a:t>
            </a:r>
          </a:p>
          <a:p>
            <a:pPr marL="0" indent="0">
              <a:buNone/>
            </a:pPr>
            <a:r>
              <a:rPr lang="it-IT" dirty="0" sz="1100"/>
              <a:t xml:space="preserve">• playwright.sh — dev server + visual QA</a:t>
            </a:r>
          </a:p>
          <a:p>
            <a:pPr marL="0" indent="0">
              <a:buNone/>
            </a:pPr>
            <a:r>
              <a:rPr lang="it-IT" dirty="0" sz="1100"/>
              <a:t xml:space="preserve">• context.sh — contesto cross-step (JSON)</a:t>
            </a:r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1A562DAA-333A-03B0-D37B-996D4124C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C4DCDE7B-3E8E-D1DA-3373-BF0777ADD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 xml:space="preserve">// </a:t>
            </a:r>
            <a:fld id="{B0379C00-A7F0-FC4A-A315-5F593AF20193}" type="slidenum">
              <a:rPr lang="it-IT" smtClean="0"/>
              <a:pPr algn="l"/>
              <a:t>8</a:t>
            </a:fld>
            <a:r>
              <a:rPr lang="it-IT"/>
              <a:t xml:space="preserve"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46187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0269C-6770-0E81-D4C9-796464B63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20921D-0A38-123B-DA7A-14462D064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7056438" cy="1258887"/>
          </a:xfrm>
        </p:spPr>
        <p:txBody>
          <a:bodyPr anchor="t"/>
          <a:lstStyle/>
          <a:p>
            <a:r>
              <a:rPr lang="it-IT" dirty="0">
                <a:latin typeface="Rethink Sans ExtraBold"/>
              </a:rPr>
              <a:t xml:space="preserve">Prompt Assembly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7AC5BF-CF10-F52F-6EDC-D89023C32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5" y="2349499"/>
            <a:ext cx="4897438" cy="3959225"/>
          </a:xfrm>
        </p:spPr>
        <p:txBody>
          <a:bodyPr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Due Modalità</a:t>
            </a:r>
          </a:p>
          <a:p>
            <a:pPr marL="0" indent="0">
              <a:buNone/>
            </a:pPr>
            <a:r>
              <a:rPr lang="it-IT" dirty="0" b="1" sz="1100">
                <a:solidFill>
                  <a:srgbClr val="0048FF"/>
                </a:solidFill>
              </a:rPr>
              <a:t xml:space="preserve">prompts.md</a:t>
            </a:r>
            <a:r>
              <a:rPr lang="it-IT" dirty="0" sz="1050"/>
              <a:t xml:space="preserve"> — Sezioni ## con fence blocks. Ogni step ha una prompt_section nel YAML.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b="1" sz="1100">
                <a:solidFill>
                  <a:srgbClr val="0048FF"/>
                </a:solidFill>
              </a:rPr>
              <a:t xml:space="preserve">Static files</a:t>
            </a:r>
            <a:r>
              <a:rPr lang="it-IT" dirty="0" sz="1050"/>
              <a:t xml:space="preserve"> — File prompts/&lt;step&gt;.md indipendenti. Fallback se prompts.md non esiste.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Variabili</a:t>
            </a:r>
          </a:p>
          <a:p>
            <a:pPr marL="0" indent="0">
              <a:buNone/>
            </a:pPr>
            <a:r>
              <a:rPr lang="it-IT" dirty="0" sz="1100"/>
              <a:t xml:space="preserve">• [FEATURE_NAME] → nome feature</a:t>
            </a:r>
          </a:p>
          <a:p>
            <a:pPr marL="0" indent="0">
              <a:buNone/>
            </a:pPr>
            <a:r>
              <a:rPr lang="it-IT" dirty="0" sz="1100"/>
              <a:t xml:space="preserve">• ${PIPELINE_DIR} → directory pipeline</a:t>
            </a:r>
          </a:p>
          <a:p>
            <a:pPr marL="0" indent="0">
              <a:buNone/>
            </a:pPr>
            <a:r>
              <a:rPr lang="it-IT" dirty="0" sz="1100"/>
              <a:t xml:space="preserve">• ${FEATURE} → alias feature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7962063A-C6C5-CA24-DAA1-EF3FB954B25B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4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644AEBDE-5A20-2B23-B956-2AD97106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AI-PIPELINE</a:t>
            </a:r>
            <a:endParaRPr lang="it-IT" sz="800" dirty="0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B1CAEF88-5086-68A8-986D-8119CC89D192}"/>
              </a:ext>
            </a:extLst>
          </p:cNvPr>
          <p:cNvSpPr txBox="1">
            <a:spLocks/>
          </p:cNvSpPr>
          <p:nvPr/>
        </p:nvSpPr>
        <p:spPr>
          <a:xfrm>
            <a:off x="6383338" y="2357438"/>
            <a:ext cx="4897437" cy="4500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Composizione Dinamica</a:t>
            </a:r>
          </a:p>
          <a:p>
            <a:pPr marL="0" indent="0">
              <a:buNone/>
            </a:pPr>
            <a:r>
              <a:rPr lang="it-IT" dirty="0" sz="1100"/>
              <a:t xml:space="preserve">prompt_build() assembla il prompt finale con più strati: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b="1" sz="1050"/>
              <a:t xml:space="preserve">1. </a:t>
            </a:r>
            <a:r>
              <a:rPr lang="it-IT" dirty="0" sz="1050"/>
              <a:t xml:space="preserve">Contesto globale (nome progetto, directory)</a:t>
            </a:r>
          </a:p>
          <a:p>
            <a:pPr marL="0" indent="0">
              <a:buNone/>
            </a:pPr>
            <a:r>
              <a:rPr lang="it-IT" dirty="0" b="1" sz="1050"/>
              <a:t xml:space="preserve">2. </a:t>
            </a:r>
            <a:r>
              <a:rPr lang="it-IT" dirty="0" sz="1050"/>
              <a:t xml:space="preserve">Cross-step context (context/&lt;feature&gt;.json)</a:t>
            </a:r>
          </a:p>
          <a:p>
            <a:pPr marL="0" indent="0">
              <a:buNone/>
            </a:pPr>
            <a:r>
              <a:rPr lang="it-IT" dirty="0" b="1" sz="1050"/>
              <a:t xml:space="preserve">3. </a:t>
            </a:r>
            <a:r>
              <a:rPr lang="it-IT" dirty="0" sz="1050"/>
              <a:t xml:space="preserve">Brief (per step PM)</a:t>
            </a:r>
          </a:p>
          <a:p>
            <a:pPr marL="0" indent="0">
              <a:buNone/>
            </a:pPr>
            <a:r>
              <a:rPr lang="it-IT" dirty="0" b="1" sz="1050"/>
              <a:t xml:space="preserve">4. </a:t>
            </a:r>
            <a:r>
              <a:rPr lang="it-IT" dirty="0" sz="1050"/>
              <a:t xml:space="preserve">Feedback revisione (se retry)</a:t>
            </a:r>
          </a:p>
          <a:p>
            <a:pPr marL="0" indent="0">
              <a:buNone/>
            </a:pPr>
            <a:r>
              <a:rPr lang="it-IT" dirty="0" b="1" sz="1050"/>
              <a:t xml:space="preserve">5. </a:t>
            </a:r>
            <a:r>
              <a:rPr lang="it-IT" dirty="0" sz="1050"/>
              <a:t xml:space="preserve">Prompt base dalla sezione</a:t>
            </a:r>
          </a:p>
          <a:p>
            <a:pPr marL="0" indent="0">
              <a:buNone/>
            </a:pPr>
            <a:r>
              <a:rPr lang="it-IT" dirty="0" b="1" sz="1050"/>
              <a:t xml:space="preserve">6. </a:t>
            </a:r>
            <a:r>
              <a:rPr lang="it-IT" dirty="0" sz="1050"/>
              <a:t xml:space="preserve">Playwright instruction (se visual)</a:t>
            </a:r>
          </a:p>
          <a:p>
            <a:pPr marL="0" indent="0">
              <a:buNone/>
            </a:pPr>
            <a:r>
              <a:rPr lang="it-IT" dirty="0" b="1" sz="1050"/>
              <a:t xml:space="preserve">7. </a:t>
            </a:r>
            <a:r>
              <a:rPr lang="it-IT" dirty="0" sz="1050"/>
              <a:t xml:space="preserve">Gate instruction (se reviewer)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sz="1100"/>
              <a:t xml:space="preserve">In modalità revisione PM: header speciale "NON riscrivere la spec da zero" + feedback strutturato.</a:t>
            </a:r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1A562DAA-333A-03B0-D37B-996D4124C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C4DCDE7B-3E8E-D1DA-3373-BF0777ADD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 xml:space="preserve">// </a:t>
            </a:r>
            <a:fld id="{B0379C00-A7F0-FC4A-A315-5F593AF20193}" type="slidenum">
              <a:rPr lang="it-IT" smtClean="0"/>
              <a:pPr algn="l"/>
              <a:t>8</a:t>
            </a:fld>
            <a:r>
              <a:rPr lang="it-IT"/>
              <a:t xml:space="preserve"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46187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0269C-6770-0E81-D4C9-796464B63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20921D-0A38-123B-DA7A-14462D064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7056438" cy="1258887"/>
          </a:xfrm>
        </p:spPr>
        <p:txBody>
          <a:bodyPr anchor="t"/>
          <a:lstStyle/>
          <a:p>
            <a:r>
              <a:rPr lang="it-IT" dirty="0">
                <a:latin typeface="Rethink Sans ExtraBold"/>
              </a:rPr>
              <a:t xml:space="preserve">Configurazione &amp; Provider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7AC5BF-CF10-F52F-6EDC-D89023C32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5" y="2349499"/>
            <a:ext cx="4897438" cy="3959225"/>
          </a:xfrm>
        </p:spPr>
        <p:txBody>
          <a:bodyPr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pipeline.yaml</a:t>
            </a:r>
          </a:p>
          <a:p>
            <a:pPr marL="0" indent="0">
              <a:buNone/>
            </a:pPr>
            <a:r>
              <a:rPr lang="it-IT" dirty="0" sz="1100"/>
              <a:t xml:space="preserve">File di configurazione centrale con tutte le opzioni: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b="1" sz="1050">
                <a:solidFill>
                  <a:srgbClr val="0048FF"/>
                </a:solidFill>
              </a:rPr>
              <a:t xml:space="preserve">pipeline:</a:t>
            </a:r>
            <a:r>
              <a:rPr lang="it-IT" dirty="0" sz="1050"/>
              <a:t xml:space="preserve"> nome e versione</a:t>
            </a:r>
          </a:p>
          <a:p>
            <a:pPr marL="0" indent="0">
              <a:buNone/>
            </a:pPr>
            <a:r>
              <a:rPr lang="it-IT" dirty="0" b="1" sz="1050">
                <a:solidFill>
                  <a:srgbClr val="0048FF"/>
                </a:solidFill>
              </a:rPr>
              <a:t xml:space="preserve">project:</a:t>
            </a:r>
            <a:r>
              <a:rPr lang="it-IT" dirty="0" sz="1050"/>
              <a:t xml:space="preserve"> dev_port, dev_start, timeout</a:t>
            </a:r>
          </a:p>
          <a:p>
            <a:pPr marL="0" indent="0">
              <a:buNone/>
            </a:pPr>
            <a:r>
              <a:rPr lang="it-IT" dirty="0" b="1" sz="1050">
                <a:solidFill>
                  <a:srgbClr val="0048FF"/>
                </a:solidFill>
              </a:rPr>
              <a:t xml:space="preserve">claude:</a:t>
            </a:r>
            <a:r>
              <a:rPr lang="it-IT" dirty="0" sz="1050"/>
              <a:t xml:space="preserve"> model default, max_turns, timeout</a:t>
            </a:r>
          </a:p>
          <a:p>
            <a:pPr marL="0" indent="0">
              <a:buNone/>
            </a:pPr>
            <a:r>
              <a:rPr lang="it-IT" dirty="0" b="1" sz="1050">
                <a:solidFill>
                  <a:srgbClr val="0048FF"/>
                </a:solidFill>
              </a:rPr>
              <a:t xml:space="preserve">steps:</a:t>
            </a:r>
            <a:r>
              <a:rPr lang="it-IT" dirty="0" sz="1050"/>
              <a:t xml:space="preserve"> 6 step con model, tools, mcp, gate</a:t>
            </a:r>
          </a:p>
          <a:p>
            <a:pPr marL="0" indent="0">
              <a:buNone/>
            </a:pPr>
            <a:r>
              <a:rPr lang="it-IT" dirty="0" b="1" sz="1050">
                <a:solidFill>
                  <a:srgbClr val="0048FF"/>
                </a:solidFill>
              </a:rPr>
              <a:t xml:space="preserve">providers:</a:t>
            </a:r>
            <a:r>
              <a:rPr lang="it-IT" dirty="0" sz="1050"/>
              <a:t xml:space="preserve"> anthropic, kimi, ollama</a:t>
            </a:r>
          </a:p>
          <a:p>
            <a:pPr marL="0" indent="0">
              <a:buNone/>
            </a:pPr>
            <a:r>
              <a:rPr lang="it-IT" dirty="0" b="1" sz="1050">
                <a:solidFill>
                  <a:srgbClr val="0048FF"/>
                </a:solidFill>
              </a:rPr>
              <a:t xml:space="preserve">verify:</a:t>
            </a:r>
            <a:r>
              <a:rPr lang="it-IT" dirty="0" sz="1050"/>
              <a:t xml:space="preserve"> commands + after_steps</a:t>
            </a:r>
          </a:p>
          <a:p>
            <a:pPr marL="0" indent="0">
              <a:buNone/>
            </a:pPr>
            <a:r>
              <a:rPr lang="it-IT" dirty="0" b="1" sz="1050">
                <a:solidFill>
                  <a:srgbClr val="0048FF"/>
                </a:solidFill>
              </a:rPr>
              <a:t xml:space="preserve">token_retry:</a:t>
            </a:r>
            <a:r>
              <a:rPr lang="it-IT" dirty="0" sz="1050"/>
              <a:t xml:space="preserve"> max_retries, base_delay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7962063A-C6C5-CA24-DAA1-EF3FB954B25B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4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644AEBDE-5A20-2B23-B956-2AD97106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AI-PIPELINE</a:t>
            </a:r>
            <a:endParaRPr lang="it-IT" sz="800" dirty="0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B1CAEF88-5086-68A8-986D-8119CC89D192}"/>
              </a:ext>
            </a:extLst>
          </p:cNvPr>
          <p:cNvSpPr txBox="1">
            <a:spLocks/>
          </p:cNvSpPr>
          <p:nvPr/>
        </p:nvSpPr>
        <p:spPr>
          <a:xfrm>
            <a:off x="6383338" y="2357438"/>
            <a:ext cx="4897437" cy="4500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Multi-Provider</a:t>
            </a:r>
          </a:p>
          <a:p>
            <a:pPr marL="0" indent="0">
              <a:buNone/>
            </a:pPr>
            <a:r>
              <a:rPr lang="it-IT" dirty="0" sz="1100"/>
              <a:t xml:space="preserve">Ogni step può usare un provider diverso: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b="1" sz="1100">
                <a:solidFill>
                  <a:srgbClr val="0048FF"/>
                </a:solidFill>
              </a:rPr>
              <a:t xml:space="preserve">Anthropic</a:t>
            </a:r>
            <a:r>
              <a:rPr lang="it-IT" dirty="0" sz="1050"/>
              <a:t xml:space="preserve"> — Claude nativo via CLI</a:t>
            </a:r>
          </a:p>
          <a:p>
            <a:pPr marL="0" indent="0">
              <a:buNone/>
            </a:pPr>
            <a:r>
              <a:rPr lang="it-IT" dirty="0" b="1" sz="1100">
                <a:solidFill>
                  <a:srgbClr val="0048FF"/>
                </a:solidFill>
              </a:rPr>
              <a:t xml:space="preserve">Kimi</a:t>
            </a:r>
            <a:r>
              <a:rPr lang="it-IT" dirty="0" sz="1050"/>
              <a:t xml:space="preserve"> — Moonshot AI (API OpenAI-compat)</a:t>
            </a:r>
          </a:p>
          <a:p>
            <a:pPr marL="0" indent="0">
              <a:buNone/>
            </a:pPr>
            <a:r>
              <a:rPr lang="it-IT" dirty="0" b="1" sz="1100">
                <a:solidFill>
                  <a:srgbClr val="0048FF"/>
                </a:solidFill>
              </a:rPr>
              <a:t xml:space="preserve">Ollama</a:t>
            </a:r>
            <a:r>
              <a:rPr lang="it-IT" dirty="0" sz="1050"/>
              <a:t xml:space="preserve"> — Modelli locali (Llama, ecc.)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Step-Level Config</a:t>
            </a:r>
          </a:p>
          <a:p>
            <a:pPr marL="0" indent="0">
              <a:buNone/>
            </a:pPr>
            <a:r>
              <a:rPr lang="it-IT" dirty="0" sz="1100"/>
              <a:t xml:space="preserve">Ogni step può sovrascrivere:</a:t>
            </a:r>
          </a:p>
          <a:p>
            <a:pPr marL="0" indent="0">
              <a:buNone/>
            </a:pPr>
            <a:r>
              <a:rPr lang="it-IT" dirty="0" sz="1100"/>
              <a:t xml:space="preserve">• model — modello specifico</a:t>
            </a:r>
          </a:p>
          <a:p>
            <a:pPr marL="0" indent="0">
              <a:buNone/>
            </a:pPr>
            <a:r>
              <a:rPr lang="it-IT" dirty="0" sz="1100"/>
              <a:t xml:space="preserve">• model_on_retry — escalation su retry</a:t>
            </a:r>
          </a:p>
          <a:p>
            <a:pPr marL="0" indent="0">
              <a:buNone/>
            </a:pPr>
            <a:r>
              <a:rPr lang="it-IT" dirty="0" sz="1100"/>
              <a:t xml:space="preserve">• provider — provider alternativo</a:t>
            </a:r>
          </a:p>
          <a:p>
            <a:pPr marL="0" indent="0">
              <a:buNone/>
            </a:pPr>
            <a:r>
              <a:rPr lang="it-IT" dirty="0" sz="1100"/>
              <a:t xml:space="preserve">• allowed_tools — Read, Edit, Write, Bash...</a:t>
            </a:r>
          </a:p>
          <a:p>
            <a:pPr marL="0" indent="0">
              <a:buNone/>
            </a:pPr>
            <a:r>
              <a:rPr lang="it-IT" dirty="0" sz="1100"/>
              <a:t xml:space="preserve">• mcp_servers — playwright, supabase, fetch</a:t>
            </a:r>
          </a:p>
          <a:p>
            <a:pPr marL="0" indent="0">
              <a:buNone/>
            </a:pPr>
            <a:r>
              <a:rPr lang="it-IT" dirty="0" sz="1100"/>
              <a:t xml:space="preserve">• playwright: true/false</a:t>
            </a:r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1A562DAA-333A-03B0-D37B-996D4124C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C4DCDE7B-3E8E-D1DA-3373-BF0777ADD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 xml:space="preserve">// </a:t>
            </a:r>
            <a:fld id="{B0379C00-A7F0-FC4A-A315-5F593AF20193}" type="slidenum">
              <a:rPr lang="it-IT" smtClean="0"/>
              <a:pPr algn="l"/>
              <a:t>8</a:t>
            </a:fld>
            <a:r>
              <a:rPr lang="it-IT"/>
              <a:t xml:space="preserve"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46187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0269C-6770-0E81-D4C9-796464B63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20921D-0A38-123B-DA7A-14462D064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7056438" cy="1258887"/>
          </a:xfrm>
        </p:spPr>
        <p:txBody>
          <a:bodyPr anchor="t"/>
          <a:lstStyle/>
          <a:p>
            <a:r>
              <a:rPr lang="it-IT" dirty="0">
                <a:latin typeface="Rethink Sans ExtraBold"/>
              </a:rPr>
              <a:t xml:space="preserve">Struttura del Progetto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7AC5BF-CF10-F52F-6EDC-D89023C32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5" y="2349499"/>
            <a:ext cx="4897438" cy="3959225"/>
          </a:xfrm>
        </p:spPr>
        <p:txBody>
          <a:bodyPr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File Statici (versionati)</a:t>
            </a:r>
          </a:p>
          <a:p>
            <a:pPr marL="0" indent="0">
              <a:buNone/>
            </a:pPr>
            <a:r>
              <a:rPr lang="it-IT" dirty="0" b="1" sz="1050">
                <a:latin typeface="Sometype Mono"/>
              </a:rPr>
              <a:t xml:space="preserve">ai-pipeline/</a:t>
            </a:r>
          </a:p>
          <a:p>
            <a:pPr marL="0" indent="0">
              <a:buNone/>
            </a:pPr>
            <a:r>
              <a:rPr lang="it-IT" dirty="0" sz="950">
                <a:latin typeface="Sometype Mono"/>
              </a:rPr>
              <a:t xml:space="preserve">  pipeline.sh</a:t>
            </a:r>
            <a:r>
              <a:rPr lang="it-IT" dirty="0" sz="950"/>
              <a:t xml:space="preserve">       — entry point</a:t>
            </a:r>
          </a:p>
          <a:p>
            <a:pPr marL="0" indent="0">
              <a:buNone/>
            </a:pPr>
            <a:r>
              <a:rPr lang="it-IT" dirty="0" sz="950">
                <a:latin typeface="Sometype Mono"/>
              </a:rPr>
              <a:t xml:space="preserve">  pipeline.yaml</a:t>
            </a:r>
            <a:r>
              <a:rPr lang="it-IT" dirty="0" sz="950"/>
              <a:t xml:space="preserve">     — configurazione</a:t>
            </a:r>
          </a:p>
          <a:p>
            <a:pPr marL="0" indent="0">
              <a:buNone/>
            </a:pPr>
            <a:r>
              <a:rPr lang="it-IT" dirty="0" sz="950">
                <a:latin typeface="Sometype Mono"/>
              </a:rPr>
              <a:t xml:space="preserve">  prompts.md</a:t>
            </a:r>
            <a:r>
              <a:rPr lang="it-IT" dirty="0" sz="950"/>
              <a:t xml:space="preserve">        — prompt unificati</a:t>
            </a:r>
          </a:p>
          <a:p>
            <a:pPr marL="0" indent="0">
              <a:buNone/>
            </a:pPr>
            <a:r>
              <a:rPr lang="it-IT" dirty="0" sz="950">
                <a:latin typeface="Sometype Mono"/>
              </a:rPr>
              <a:t xml:space="preserve">  lib/</a:t>
            </a:r>
            <a:r>
              <a:rPr lang="it-IT" dirty="0" sz="950"/>
              <a:t xml:space="preserve">              — 9 librerie Bash</a:t>
            </a:r>
          </a:p>
          <a:p>
            <a:pPr marL="0" indent="0">
              <a:buNone/>
            </a:pPr>
            <a:r>
              <a:rPr lang="it-IT" dirty="0" sz="950">
                <a:latin typeface="Sometype Mono"/>
              </a:rPr>
              <a:t xml:space="preserve">  prompts/</a:t>
            </a:r>
            <a:r>
              <a:rPr lang="it-IT" dirty="0" sz="950"/>
              <a:t xml:space="preserve">          — prompt statici</a:t>
            </a:r>
          </a:p>
          <a:p>
            <a:pPr marL="0" indent="0">
              <a:buNone/>
            </a:pPr>
            <a:r>
              <a:rPr lang="it-IT" dirty="0" sz="950">
                <a:latin typeface="Sometype Mono"/>
              </a:rPr>
              <a:t xml:space="preserve">  briefs/</a:t>
            </a:r>
            <a:r>
              <a:rPr lang="it-IT" dirty="0" sz="950"/>
              <a:t xml:space="preserve">           — feature brief</a:t>
            </a:r>
          </a:p>
          <a:p>
            <a:pPr marL="0" indent="0">
              <a:buNone/>
            </a:pPr>
            <a:r>
              <a:rPr lang="it-IT" dirty="0" sz="950">
                <a:latin typeface="Sometype Mono"/>
              </a:rPr>
              <a:t xml:space="preserve">  tools/</a:t>
            </a:r>
            <a:r>
              <a:rPr lang="it-IT" dirty="0" sz="950"/>
              <a:t xml:space="preserve">            — script ausiliari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7962063A-C6C5-CA24-DAA1-EF3FB954B25B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4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644AEBDE-5A20-2B23-B956-2AD97106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AI-PIPELINE</a:t>
            </a:r>
            <a:endParaRPr lang="it-IT" sz="800" dirty="0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B1CAEF88-5086-68A8-986D-8119CC89D192}"/>
              </a:ext>
            </a:extLst>
          </p:cNvPr>
          <p:cNvSpPr txBox="1">
            <a:spLocks/>
          </p:cNvSpPr>
          <p:nvPr/>
        </p:nvSpPr>
        <p:spPr>
          <a:xfrm>
            <a:off x="6383338" y="2357438"/>
            <a:ext cx="4897437" cy="4500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Artefatti Runtime (gitignored)</a:t>
            </a:r>
          </a:p>
          <a:p>
            <a:pPr marL="0" indent="0">
              <a:buNone/>
            </a:pPr>
            <a:r>
              <a:rPr lang="it-IT" dirty="0" b="1" sz="1050">
                <a:latin typeface="Sometype Mono"/>
              </a:rPr>
              <a:t xml:space="preserve">ai-pipeline/</a:t>
            </a:r>
          </a:p>
          <a:p>
            <a:pPr marL="0" indent="0">
              <a:buNone/>
            </a:pPr>
            <a:r>
              <a:rPr lang="it-IT" dirty="0" sz="950">
                <a:latin typeface="Sometype Mono"/>
              </a:rPr>
              <a:t xml:space="preserve">  specs/</a:t>
            </a:r>
            <a:r>
              <a:rPr lang="it-IT" dirty="0" sz="950"/>
              <a:t xml:space="preserve">           — spec generate</a:t>
            </a:r>
          </a:p>
          <a:p>
            <a:pPr marL="0" indent="0">
              <a:buNone/>
            </a:pPr>
            <a:r>
              <a:rPr lang="it-IT" dirty="0" sz="950">
                <a:latin typeface="Sometype Mono"/>
              </a:rPr>
              <a:t xml:space="preserve">  reviews/</a:t>
            </a:r>
            <a:r>
              <a:rPr lang="it-IT" dirty="0" sz="950"/>
              <a:t xml:space="preserve">         — report revisioni</a:t>
            </a:r>
          </a:p>
          <a:p>
            <a:pPr marL="0" indent="0">
              <a:buNone/>
            </a:pPr>
            <a:r>
              <a:rPr lang="it-IT" dirty="0" sz="950">
                <a:latin typeface="Sometype Mono"/>
              </a:rPr>
              <a:t xml:space="preserve">  verdicts/</a:t>
            </a:r>
            <a:r>
              <a:rPr lang="it-IT" dirty="0" sz="950"/>
              <a:t xml:space="preserve">        — file .verdict</a:t>
            </a:r>
          </a:p>
          <a:p>
            <a:pPr marL="0" indent="0">
              <a:buNone/>
            </a:pPr>
            <a:r>
              <a:rPr lang="it-IT" dirty="0" sz="950">
                <a:latin typeface="Sometype Mono"/>
              </a:rPr>
              <a:t xml:space="preserve">  context/</a:t>
            </a:r>
            <a:r>
              <a:rPr lang="it-IT" dirty="0" sz="950"/>
              <a:t xml:space="preserve">         — JSON cross-step</a:t>
            </a:r>
          </a:p>
          <a:p>
            <a:pPr marL="0" indent="0">
              <a:buNone/>
            </a:pPr>
            <a:r>
              <a:rPr lang="it-IT" dirty="0" sz="950">
                <a:latin typeface="Sometype Mono"/>
              </a:rPr>
              <a:t xml:space="preserve">  verify/</a:t>
            </a:r>
            <a:r>
              <a:rPr lang="it-IT" dirty="0" sz="950"/>
              <a:t xml:space="preserve">          — log verify</a:t>
            </a:r>
          </a:p>
          <a:p>
            <a:pPr marL="0" indent="0">
              <a:buNone/>
            </a:pPr>
            <a:r>
              <a:rPr lang="it-IT" dirty="0" sz="950">
                <a:latin typeface="Sometype Mono"/>
              </a:rPr>
              <a:t xml:space="preserve">  screenshots/</a:t>
            </a:r>
            <a:r>
              <a:rPr lang="it-IT" dirty="0" sz="950"/>
              <a:t xml:space="preserve">     — Playwright</a:t>
            </a:r>
          </a:p>
          <a:p>
            <a:pPr marL="0" indent="0">
              <a:buNone/>
            </a:pPr>
            <a:r>
              <a:rPr lang="it-IT" dirty="0" sz="950">
                <a:latin typeface="Sometype Mono"/>
              </a:rPr>
              <a:t xml:space="preserve">  logs/</a:t>
            </a:r>
            <a:r>
              <a:rPr lang="it-IT" dirty="0" sz="950"/>
              <a:t xml:space="preserve">            — dev-server, exec</a:t>
            </a:r>
          </a:p>
          <a:p>
            <a:pPr marL="0" indent="0">
              <a:buNone/>
            </a:pPr>
            <a:r>
              <a:rPr lang="it-IT" dirty="0" sz="950">
                <a:latin typeface="Sometype Mono"/>
              </a:rPr>
              <a:t xml:space="preserve">  state.json</a:t>
            </a:r>
            <a:r>
              <a:rPr lang="it-IT" dirty="0" sz="950"/>
              <a:t xml:space="preserve">       — stato pipeline</a:t>
            </a:r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1A562DAA-333A-03B0-D37B-996D4124C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C4DCDE7B-3E8E-D1DA-3373-BF0777ADD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 xml:space="preserve">// </a:t>
            </a:r>
            <a:fld id="{B0379C00-A7F0-FC4A-A315-5F593AF20193}" type="slidenum">
              <a:rPr lang="it-IT" smtClean="0"/>
              <a:pPr algn="l"/>
              <a:t>8</a:t>
            </a:fld>
            <a:r>
              <a:rPr lang="it-IT"/>
              <a:t xml:space="preserve"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46187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13F32-BD0A-FAEF-BBA3-9DE9D7158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C218E5-FC0D-4310-88F6-24E931B48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7056438" cy="1258887"/>
          </a:xfrm>
        </p:spPr>
        <p:txBody>
          <a:bodyPr anchor="t"/>
          <a:lstStyle/>
          <a:p>
            <a:r>
              <a:rPr lang="it-IT" dirty="0">
                <a:latin typeface="Rethink Sans ExtraBold"/>
              </a:rPr>
              <a:t xml:space="preserve">I 6 Agenti (1/2)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5D2566A6-B337-C26C-AE7A-A8804419BD98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4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F6DE5A58-F3AF-BEF8-D0B3-3709ECBA5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AI-PIPELINE</a:t>
            </a:r>
            <a:endParaRPr lang="it-IT" sz="800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3926981B-6C7F-078D-7A23-D6F4B227F5BF}"/>
              </a:ext>
            </a:extLst>
          </p:cNvPr>
          <p:cNvSpPr/>
          <p:nvPr/>
        </p:nvSpPr>
        <p:spPr>
          <a:xfrm>
            <a:off x="334963" y="1819275"/>
            <a:ext cx="3673475" cy="4489449"/>
          </a:xfrm>
          <a:prstGeom prst="rect">
            <a:avLst/>
          </a:prstGeom>
          <a:solidFill>
            <a:srgbClr val="0048F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Ins="360000" bIns="216000" rtlCol="0" anchor="t"/>
          <a:lstStyle/>
          <a:p>
            <a:pPr>
              <a:lnSpc>
                <a:spcPct val="150000"/>
              </a:lnSpc>
            </a:pPr>
            <a:endParaRPr lang="it-IT" b="1" dirty="0">
              <a:solidFill>
                <a:schemeClr val="bg2">
                  <a:lumMod val="10000"/>
                </a:schemeClr>
              </a:solidFill>
              <a:latin typeface="Sometype Mono" panose="020B0009020203030204" pitchFamily="49" charset="77"/>
            </a:endParaRPr>
          </a:p>
          <a:p>
            <a:pPr>
              <a:lnSpc>
                <a:spcPct val="150000"/>
              </a:lnSpc>
            </a:pPr>
            <a:endParaRPr lang="it-IT" b="1" dirty="0">
              <a:solidFill>
                <a:schemeClr val="bg2">
                  <a:lumMod val="10000"/>
                </a:schemeClr>
              </a:solidFill>
              <a:latin typeface="Sometype Mono" panose="020B0009020203030204" pitchFamily="49" charset="77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874A79AD-6319-C9C5-8464-29A68B23E0DB}"/>
              </a:ext>
            </a:extLst>
          </p:cNvPr>
          <p:cNvSpPr/>
          <p:nvPr/>
        </p:nvSpPr>
        <p:spPr>
          <a:xfrm>
            <a:off x="4224338" y="1808163"/>
            <a:ext cx="3743325" cy="4500562"/>
          </a:xfrm>
          <a:prstGeom prst="rect">
            <a:avLst/>
          </a:prstGeom>
          <a:solidFill>
            <a:srgbClr val="0048F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Ins="360000" bIns="216000" rtlCol="0" anchor="t"/>
          <a:lstStyle/>
          <a:p>
            <a:pPr>
              <a:lnSpc>
                <a:spcPct val="150000"/>
              </a:lnSpc>
            </a:pPr>
            <a:endParaRPr lang="it-IT" b="1" dirty="0">
              <a:solidFill>
                <a:schemeClr val="bg2">
                  <a:lumMod val="10000"/>
                </a:schemeClr>
              </a:solidFill>
              <a:latin typeface="Sometype Mono" panose="020B0009020203030204" pitchFamily="49" charset="77"/>
            </a:endParaRPr>
          </a:p>
          <a:p>
            <a:pPr>
              <a:lnSpc>
                <a:spcPct val="150000"/>
              </a:lnSpc>
            </a:pPr>
            <a:endParaRPr lang="it-IT" b="1" dirty="0">
              <a:solidFill>
                <a:schemeClr val="bg2">
                  <a:lumMod val="10000"/>
                </a:schemeClr>
              </a:solidFill>
              <a:latin typeface="Sometype Mono" panose="020B0009020203030204" pitchFamily="49" charset="77"/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62BFFFB-9F68-4AD2-BF81-789F620C1F9A}"/>
              </a:ext>
            </a:extLst>
          </p:cNvPr>
          <p:cNvSpPr/>
          <p:nvPr/>
        </p:nvSpPr>
        <p:spPr>
          <a:xfrm>
            <a:off x="8183563" y="1808163"/>
            <a:ext cx="3673475" cy="4500562"/>
          </a:xfrm>
          <a:prstGeom prst="rect">
            <a:avLst/>
          </a:prstGeom>
          <a:solidFill>
            <a:srgbClr val="0048F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Ins="360000" bIns="216000" rtlCol="0" anchor="t"/>
          <a:lstStyle/>
          <a:p>
            <a:pPr>
              <a:lnSpc>
                <a:spcPct val="150000"/>
              </a:lnSpc>
            </a:pPr>
            <a:endParaRPr lang="it-IT" b="1" dirty="0">
              <a:solidFill>
                <a:schemeClr val="bg2">
                  <a:lumMod val="10000"/>
                </a:schemeClr>
              </a:solidFill>
              <a:latin typeface="Sometype Mono" panose="020B0009020203030204" pitchFamily="49" charset="77"/>
            </a:endParaRPr>
          </a:p>
          <a:p>
            <a:pPr>
              <a:lnSpc>
                <a:spcPct val="150000"/>
              </a:lnSpc>
            </a:pPr>
            <a:endParaRPr lang="it-IT" b="1" dirty="0">
              <a:solidFill>
                <a:schemeClr val="bg2">
                  <a:lumMod val="10000"/>
                </a:schemeClr>
              </a:solidFill>
              <a:latin typeface="Sometype Mono" panose="020B0009020203030204" pitchFamily="49" charset="77"/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03D7A904-B472-D5A1-A541-871956E91FFC}"/>
              </a:ext>
            </a:extLst>
          </p:cNvPr>
          <p:cNvSpPr/>
          <p:nvPr/>
        </p:nvSpPr>
        <p:spPr>
          <a:xfrm>
            <a:off x="334963" y="1808163"/>
            <a:ext cx="3673475" cy="5413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21B56A20-392F-CCD0-7387-B1C07BF9F0B3}"/>
              </a:ext>
            </a:extLst>
          </p:cNvPr>
          <p:cNvSpPr/>
          <p:nvPr/>
        </p:nvSpPr>
        <p:spPr>
          <a:xfrm>
            <a:off x="334963" y="1808163"/>
            <a:ext cx="3673475" cy="541338"/>
          </a:xfrm>
          <a:prstGeom prst="rect">
            <a:avLst/>
          </a:prstGeom>
          <a:solidFill>
            <a:srgbClr val="0048FF">
              <a:alpha val="49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it-IT" dirty="0" b="1" sz="1400">
                <a:solidFill>
                  <a:srgbClr val="FFFFFF"/>
                </a:solidFill>
              </a:rPr>
              <a:t xml:space="preserve">PM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17B19D36-16FE-39F9-A37E-E1FF971000E7}"/>
              </a:ext>
            </a:extLst>
          </p:cNvPr>
          <p:cNvSpPr/>
          <p:nvPr/>
        </p:nvSpPr>
        <p:spPr>
          <a:xfrm>
            <a:off x="334963" y="2525711"/>
            <a:ext cx="3673475" cy="3783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it-IT" dirty="0" b="1" sz="1000">
                <a:solidFill>
                  <a:srgbClr val="0048FF"/>
                </a:solidFill>
              </a:rPr>
              <a:t xml:space="preserve">🎯 Product Manager</a:t>
            </a:r>
          </a:p>
          <a:p>
            <a:pPr marL="0" indent="0">
              <a:spcAft>
                <a:spcPts val="50"/>
              </a:spcAft>
              <a:buNone/>
            </a:pPr>
            <a:r>
              <a:rPr lang="it-IT" dirty="0" sz="900"/>
              <a:t xml:space="preserve">Genera la specifica funzionale partendo dal brief. Usa Claude Opus per la massima qualità.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666666"/>
                </a:solidFill>
              </a:rPr>
              <a:t xml:space="preserve">Output: specs/&lt;feature&gt;.md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9CB4A64-DC1B-CE05-3A45-87E946BFD2CF}"/>
              </a:ext>
            </a:extLst>
          </p:cNvPr>
          <p:cNvSpPr/>
          <p:nvPr/>
        </p:nvSpPr>
        <p:spPr>
          <a:xfrm>
            <a:off x="4234919" y="1819275"/>
            <a:ext cx="3732744" cy="541338"/>
          </a:xfrm>
          <a:prstGeom prst="rect">
            <a:avLst/>
          </a:prstGeom>
          <a:solidFill>
            <a:srgbClr val="0048FF">
              <a:alpha val="49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it-IT" dirty="0" b="1" sz="1400">
                <a:solidFill>
                  <a:srgbClr val="FFFFFF"/>
                </a:solidFill>
              </a:rPr>
              <a:t xml:space="preserve">DR-SPEC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4F509AF1-6BFF-EE37-41C6-66F895423088}"/>
              </a:ext>
            </a:extLst>
          </p:cNvPr>
          <p:cNvSpPr/>
          <p:nvPr/>
        </p:nvSpPr>
        <p:spPr>
          <a:xfrm>
            <a:off x="4234919" y="2536823"/>
            <a:ext cx="3732744" cy="3783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it-IT" dirty="0" b="1" sz="1000">
                <a:solidFill>
                  <a:srgbClr val="0048FF"/>
                </a:solidFill>
              </a:rPr>
              <a:t xml:space="preserve">🔍 Design Reviewer</a:t>
            </a:r>
          </a:p>
          <a:p>
            <a:pPr marL="0" indent="0">
              <a:spcAft>
                <a:spcPts val="50"/>
              </a:spcAft>
              <a:buNone/>
            </a:pPr>
            <a:r>
              <a:rPr lang="it-IT" dirty="0" sz="900"/>
              <a:t xml:space="preserve">Valida la specifica con verdetto binario. Se REJECTED, il PM corregge con feedback strutturato REV-001, REV-002.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666666"/>
                </a:solidFill>
              </a:rPr>
              <a:t xml:space="preserve">Gate: .verdict → APPROVED / REJECTED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EDBABED6-B25E-6C98-240C-71863A5E570C}"/>
              </a:ext>
            </a:extLst>
          </p:cNvPr>
          <p:cNvSpPr/>
          <p:nvPr/>
        </p:nvSpPr>
        <p:spPr>
          <a:xfrm>
            <a:off x="8183563" y="1808164"/>
            <a:ext cx="3673475" cy="541338"/>
          </a:xfrm>
          <a:prstGeom prst="rect">
            <a:avLst/>
          </a:prstGeom>
          <a:solidFill>
            <a:srgbClr val="0048FF">
              <a:alpha val="49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it-IT" dirty="0" b="1" sz="1400">
                <a:solidFill>
                  <a:srgbClr val="FFFFFF"/>
                </a:solidFill>
              </a:rPr>
              <a:t xml:space="preserve">DEV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010D6808-C6DA-182A-AF90-FF066B63DBAF}"/>
              </a:ext>
            </a:extLst>
          </p:cNvPr>
          <p:cNvSpPr/>
          <p:nvPr/>
        </p:nvSpPr>
        <p:spPr>
          <a:xfrm>
            <a:off x="8183563" y="2525712"/>
            <a:ext cx="3673475" cy="3783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it-IT" dirty="0" b="1" sz="1000">
                <a:solidFill>
                  <a:srgbClr val="0048FF"/>
                </a:solidFill>
              </a:rPr>
              <a:t xml:space="preserve">💻 Developer</a:t>
            </a:r>
          </a:p>
          <a:p>
            <a:pPr marL="0" indent="0">
              <a:spcAft>
                <a:spcPts val="50"/>
              </a:spcAft>
              <a:buNone/>
            </a:pPr>
            <a:r>
              <a:rPr lang="it-IT" dirty="0" sz="900"/>
              <a:t xml:space="preserve">Implementa seguendo la spec approvata. Accesso a Bash, Playwright MCP, Supabase, Fetch. Model escalation su retry.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666666"/>
                </a:solidFill>
              </a:rPr>
              <a:t xml:space="preserve">Output: codice + context/&lt;feature&gt;.json</a:t>
            </a:r>
          </a:p>
        </p:txBody>
      </p:sp>
      <p:sp>
        <p:nvSpPr>
          <p:cNvPr id="25" name="Segnaposto data 24">
            <a:extLst>
              <a:ext uri="{FF2B5EF4-FFF2-40B4-BE49-F238E27FC236}">
                <a16:creationId xmlns:a16="http://schemas.microsoft.com/office/drawing/2014/main" id="{C92DC988-969F-9B97-A907-9785B6741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26" name="Segnaposto numero diapositiva 25">
            <a:extLst>
              <a:ext uri="{FF2B5EF4-FFF2-40B4-BE49-F238E27FC236}">
                <a16:creationId xmlns:a16="http://schemas.microsoft.com/office/drawing/2014/main" id="{9C8093F0-83DC-C5CB-AF31-5103B77A4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 xml:space="preserve">// </a:t>
            </a:r>
            <a:fld id="{B0379C00-A7F0-FC4A-A315-5F593AF20193}" type="slidenum">
              <a:rPr lang="it-IT" smtClean="0"/>
              <a:pPr algn="l"/>
              <a:t>9</a:t>
            </a:fld>
            <a:r>
              <a:rPr lang="it-IT"/>
              <a:t xml:space="preserve"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714610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13F32-BD0A-FAEF-BBA3-9DE9D7158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C218E5-FC0D-4310-88F6-24E931B48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7056438" cy="1258887"/>
          </a:xfrm>
        </p:spPr>
        <p:txBody>
          <a:bodyPr anchor="t"/>
          <a:lstStyle/>
          <a:p>
            <a:r>
              <a:rPr lang="it-IT" dirty="0">
                <a:latin typeface="Rethink Sans ExtraBold"/>
              </a:rPr>
              <a:t xml:space="preserve">I 6 Agenti (2/2)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5D2566A6-B337-C26C-AE7A-A8804419BD98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4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  <a:latin typeface="Rethink Sans ExtraBold" pitchFamily="2" charset="77"/>
              </a:rPr>
              <a:t>//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F6DE5A58-F3AF-BEF8-D0B3-3709ECBA5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AI-PIPELINE</a:t>
            </a:r>
            <a:endParaRPr lang="it-IT" sz="800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3926981B-6C7F-078D-7A23-D6F4B227F5BF}"/>
              </a:ext>
            </a:extLst>
          </p:cNvPr>
          <p:cNvSpPr/>
          <p:nvPr/>
        </p:nvSpPr>
        <p:spPr>
          <a:xfrm>
            <a:off x="334963" y="1819275"/>
            <a:ext cx="3673475" cy="4489449"/>
          </a:xfrm>
          <a:prstGeom prst="rect">
            <a:avLst/>
          </a:prstGeom>
          <a:solidFill>
            <a:srgbClr val="0048F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Ins="360000" bIns="216000" rtlCol="0" anchor="t"/>
          <a:lstStyle/>
          <a:p>
            <a:pPr>
              <a:lnSpc>
                <a:spcPct val="150000"/>
              </a:lnSpc>
            </a:pPr>
            <a:endParaRPr lang="it-IT" b="1" dirty="0">
              <a:solidFill>
                <a:schemeClr val="bg2">
                  <a:lumMod val="10000"/>
                </a:schemeClr>
              </a:solidFill>
              <a:latin typeface="Sometype Mono" panose="020B0009020203030204" pitchFamily="49" charset="77"/>
            </a:endParaRPr>
          </a:p>
          <a:p>
            <a:pPr>
              <a:lnSpc>
                <a:spcPct val="150000"/>
              </a:lnSpc>
            </a:pPr>
            <a:endParaRPr lang="it-IT" b="1" dirty="0">
              <a:solidFill>
                <a:schemeClr val="bg2">
                  <a:lumMod val="10000"/>
                </a:schemeClr>
              </a:solidFill>
              <a:latin typeface="Sometype Mono" panose="020B0009020203030204" pitchFamily="49" charset="77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874A79AD-6319-C9C5-8464-29A68B23E0DB}"/>
              </a:ext>
            </a:extLst>
          </p:cNvPr>
          <p:cNvSpPr/>
          <p:nvPr/>
        </p:nvSpPr>
        <p:spPr>
          <a:xfrm>
            <a:off x="4224338" y="1808163"/>
            <a:ext cx="3743325" cy="4500562"/>
          </a:xfrm>
          <a:prstGeom prst="rect">
            <a:avLst/>
          </a:prstGeom>
          <a:solidFill>
            <a:srgbClr val="0048F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Ins="360000" bIns="216000" rtlCol="0" anchor="t"/>
          <a:lstStyle/>
          <a:p>
            <a:pPr>
              <a:lnSpc>
                <a:spcPct val="150000"/>
              </a:lnSpc>
            </a:pPr>
            <a:endParaRPr lang="it-IT" b="1" dirty="0">
              <a:solidFill>
                <a:schemeClr val="bg2">
                  <a:lumMod val="10000"/>
                </a:schemeClr>
              </a:solidFill>
              <a:latin typeface="Sometype Mono" panose="020B0009020203030204" pitchFamily="49" charset="77"/>
            </a:endParaRPr>
          </a:p>
          <a:p>
            <a:pPr>
              <a:lnSpc>
                <a:spcPct val="150000"/>
              </a:lnSpc>
            </a:pPr>
            <a:endParaRPr lang="it-IT" b="1" dirty="0">
              <a:solidFill>
                <a:schemeClr val="bg2">
                  <a:lumMod val="10000"/>
                </a:schemeClr>
              </a:solidFill>
              <a:latin typeface="Sometype Mono" panose="020B0009020203030204" pitchFamily="49" charset="77"/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62BFFFB-9F68-4AD2-BF81-789F620C1F9A}"/>
              </a:ext>
            </a:extLst>
          </p:cNvPr>
          <p:cNvSpPr/>
          <p:nvPr/>
        </p:nvSpPr>
        <p:spPr>
          <a:xfrm>
            <a:off x="8183563" y="1808163"/>
            <a:ext cx="3673475" cy="4500562"/>
          </a:xfrm>
          <a:prstGeom prst="rect">
            <a:avLst/>
          </a:prstGeom>
          <a:solidFill>
            <a:srgbClr val="0048F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Ins="360000" bIns="216000" rtlCol="0" anchor="t"/>
          <a:lstStyle/>
          <a:p>
            <a:pPr>
              <a:lnSpc>
                <a:spcPct val="150000"/>
              </a:lnSpc>
            </a:pPr>
            <a:endParaRPr lang="it-IT" b="1" dirty="0">
              <a:solidFill>
                <a:schemeClr val="bg2">
                  <a:lumMod val="10000"/>
                </a:schemeClr>
              </a:solidFill>
              <a:latin typeface="Sometype Mono" panose="020B0009020203030204" pitchFamily="49" charset="77"/>
            </a:endParaRPr>
          </a:p>
          <a:p>
            <a:pPr>
              <a:lnSpc>
                <a:spcPct val="150000"/>
              </a:lnSpc>
            </a:pPr>
            <a:endParaRPr lang="it-IT" b="1" dirty="0">
              <a:solidFill>
                <a:schemeClr val="bg2">
                  <a:lumMod val="10000"/>
                </a:schemeClr>
              </a:solidFill>
              <a:latin typeface="Sometype Mono" panose="020B0009020203030204" pitchFamily="49" charset="77"/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03D7A904-B472-D5A1-A541-871956E91FFC}"/>
              </a:ext>
            </a:extLst>
          </p:cNvPr>
          <p:cNvSpPr/>
          <p:nvPr/>
        </p:nvSpPr>
        <p:spPr>
          <a:xfrm>
            <a:off x="334963" y="1808163"/>
            <a:ext cx="3673475" cy="5413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21B56A20-392F-CCD0-7387-B1C07BF9F0B3}"/>
              </a:ext>
            </a:extLst>
          </p:cNvPr>
          <p:cNvSpPr/>
          <p:nvPr/>
        </p:nvSpPr>
        <p:spPr>
          <a:xfrm>
            <a:off x="334963" y="1808163"/>
            <a:ext cx="3673475" cy="541338"/>
          </a:xfrm>
          <a:prstGeom prst="rect">
            <a:avLst/>
          </a:prstGeom>
          <a:solidFill>
            <a:srgbClr val="0048FF">
              <a:alpha val="49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it-IT" dirty="0" b="1" sz="1400">
                <a:solidFill>
                  <a:srgbClr val="FFFFFF"/>
                </a:solidFill>
              </a:rPr>
              <a:t xml:space="preserve">DR-IMPL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17B19D36-16FE-39F9-A37E-E1FF971000E7}"/>
              </a:ext>
            </a:extLst>
          </p:cNvPr>
          <p:cNvSpPr/>
          <p:nvPr/>
        </p:nvSpPr>
        <p:spPr>
          <a:xfrm>
            <a:off x="334963" y="2525711"/>
            <a:ext cx="3673475" cy="3783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it-IT" dirty="0" b="1" sz="1000">
                <a:solidFill>
                  <a:srgbClr val="0048FF"/>
                </a:solidFill>
              </a:rPr>
              <a:t xml:space="preserve">🔎 Design Reviewer</a:t>
            </a:r>
          </a:p>
          <a:p>
            <a:pPr marL="0" indent="0">
              <a:spcAft>
                <a:spcPts val="50"/>
              </a:spcAft>
              <a:buNone/>
            </a:pPr>
            <a:r>
              <a:rPr lang="it-IT" dirty="0" sz="900"/>
              <a:t xml:space="preserve">Review dell'implementazione con Playwright. Verifica visiva obbligatoria nel browser + code review.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666666"/>
                </a:solidFill>
              </a:rPr>
              <a:t xml:space="preserve">Gate: verdetto binario con feedback REV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9CB4A64-DC1B-CE05-3A45-87E946BFD2CF}"/>
              </a:ext>
            </a:extLst>
          </p:cNvPr>
          <p:cNvSpPr/>
          <p:nvPr/>
        </p:nvSpPr>
        <p:spPr>
          <a:xfrm>
            <a:off x="4234919" y="1819275"/>
            <a:ext cx="3732744" cy="541338"/>
          </a:xfrm>
          <a:prstGeom prst="rect">
            <a:avLst/>
          </a:prstGeom>
          <a:solidFill>
            <a:srgbClr val="0048FF">
              <a:alpha val="49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it-IT" dirty="0" b="1" sz="1400">
                <a:solidFill>
                  <a:srgbClr val="FFFFFF"/>
                </a:solidFill>
              </a:rPr>
              <a:t xml:space="preserve">QA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4F509AF1-6BFF-EE37-41C6-66F895423088}"/>
              </a:ext>
            </a:extLst>
          </p:cNvPr>
          <p:cNvSpPr/>
          <p:nvPr/>
        </p:nvSpPr>
        <p:spPr>
          <a:xfrm>
            <a:off x="4234919" y="2536823"/>
            <a:ext cx="3732744" cy="3783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it-IT" dirty="0" b="1" sz="1000">
                <a:solidFill>
                  <a:srgbClr val="0048FF"/>
                </a:solidFill>
              </a:rPr>
              <a:t xml:space="preserve">✅ Quality Assurance</a:t>
            </a:r>
          </a:p>
          <a:p>
            <a:pPr marL="0" indent="0">
              <a:spcAft>
                <a:spcPts val="50"/>
              </a:spcAft>
              <a:buNone/>
            </a:pPr>
            <a:r>
              <a:rPr lang="it-IT" dirty="0" sz="900"/>
              <a:t xml:space="preserve">Validazione finale: test funzionali, edge case, accessibilità. Usa Playwright per navigazione e screenshot.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666666"/>
                </a:solidFill>
              </a:rPr>
              <a:t xml:space="preserve">Gate: APPROVED = feature completata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EDBABED6-B25E-6C98-240C-71863A5E570C}"/>
              </a:ext>
            </a:extLst>
          </p:cNvPr>
          <p:cNvSpPr/>
          <p:nvPr/>
        </p:nvSpPr>
        <p:spPr>
          <a:xfrm>
            <a:off x="8183563" y="1808164"/>
            <a:ext cx="3673475" cy="541338"/>
          </a:xfrm>
          <a:prstGeom prst="rect">
            <a:avLst/>
          </a:prstGeom>
          <a:solidFill>
            <a:srgbClr val="0048FF">
              <a:alpha val="49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it-IT" dirty="0" b="1" sz="1400">
                <a:solidFill>
                  <a:srgbClr val="FFFFFF"/>
                </a:solidFill>
              </a:rPr>
              <a:t xml:space="preserve">DEV-FIX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010D6808-C6DA-182A-AF90-FF066B63DBAF}"/>
              </a:ext>
            </a:extLst>
          </p:cNvPr>
          <p:cNvSpPr/>
          <p:nvPr/>
        </p:nvSpPr>
        <p:spPr>
          <a:xfrm>
            <a:off x="8183563" y="2525712"/>
            <a:ext cx="3673475" cy="3783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it-IT" dirty="0" b="1" sz="1000">
                <a:solidFill>
                  <a:srgbClr val="0048FF"/>
                </a:solidFill>
              </a:rPr>
              <a:t xml:space="preserve">🔧 Developer Fix</a:t>
            </a:r>
          </a:p>
          <a:p>
            <a:pPr marL="0" indent="0">
              <a:spcAft>
                <a:spcPts val="50"/>
              </a:spcAft>
              <a:buNone/>
            </a:pPr>
            <a:r>
              <a:rPr lang="it-IT" dirty="0" sz="900"/>
              <a:t xml:space="preserve">Corregge i problemi segnalati da DR-IMPL o QA. Riceve feedback strutturato. Usa Edit mirato, non riscrittura.</a:t>
            </a:r>
          </a:p>
          <a:p>
            <a:pPr marL="0" indent="0">
              <a:buNone/>
            </a:pPr>
            <a:r>
              <a:rPr lang="it-IT" dirty="0" sz="900">
                <a:solidFill>
                  <a:srgbClr val="666666"/>
                </a:solidFill>
              </a:rPr>
              <a:t xml:space="preserve">Loop: fix → re-review fino ad APPROVED</a:t>
            </a:r>
          </a:p>
        </p:txBody>
      </p:sp>
      <p:sp>
        <p:nvSpPr>
          <p:cNvPr id="25" name="Segnaposto data 24">
            <a:extLst>
              <a:ext uri="{FF2B5EF4-FFF2-40B4-BE49-F238E27FC236}">
                <a16:creationId xmlns:a16="http://schemas.microsoft.com/office/drawing/2014/main" id="{C92DC988-969F-9B97-A907-9785B6741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26" name="Segnaposto numero diapositiva 25">
            <a:extLst>
              <a:ext uri="{FF2B5EF4-FFF2-40B4-BE49-F238E27FC236}">
                <a16:creationId xmlns:a16="http://schemas.microsoft.com/office/drawing/2014/main" id="{9C8093F0-83DC-C5CB-AF31-5103B77A4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 xml:space="preserve">// </a:t>
            </a:r>
            <a:fld id="{B0379C00-A7F0-FC4A-A315-5F593AF20193}" type="slidenum">
              <a:rPr lang="it-IT" smtClean="0"/>
              <a:pPr algn="l"/>
              <a:t>9</a:t>
            </a:fld>
            <a:r>
              <a:rPr lang="it-IT"/>
              <a:t xml:space="preserve"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71461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E595D-691C-699C-9C58-79A7ED658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5DB68EC0-4677-983D-69DE-F89180639E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301"/>
          <a:stretch>
            <a:fillRect/>
          </a:stretch>
        </p:blipFill>
        <p:spPr>
          <a:xfrm>
            <a:off x="8183563" y="0"/>
            <a:ext cx="5808662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76F743E-0BF0-FD29-4A85-1272675CA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6" y="549276"/>
            <a:ext cx="6439143" cy="1258887"/>
          </a:xfrm>
        </p:spPr>
        <p:txBody>
          <a:bodyPr anchor="t"/>
          <a:lstStyle/>
          <a:p>
            <a:r>
              <a:rPr lang="it-IT" dirty="0">
                <a:latin typeface="Rethink Sans ExtraBold"/>
              </a:rPr>
              <a:t xml:space="preserve">Playwright &amp; Verifica Visiva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F339DA-37FD-E0DE-F991-4B492C747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4" y="2349499"/>
            <a:ext cx="6403976" cy="3959225"/>
          </a:xfrm>
        </p:spPr>
        <p:txBody>
          <a:bodyPr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Dev Server Lifecycle</a:t>
            </a:r>
          </a:p>
          <a:p>
            <a:pPr marL="0" indent="0">
              <a:buNone/>
            </a:pPr>
            <a:r>
              <a:rPr lang="it-IT" dirty="0" sz="1100"/>
              <a:t xml:space="preserve">La pipeline verifica che il dev server sia attivo prima degli step con playwright: true. Se non risponde, tenta l'avvio automatico via project.dev_start con timeout configurabile.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Verifica Visiva Obbligatoria</a:t>
            </a:r>
          </a:p>
          <a:p>
            <a:pPr marL="0" indent="0">
              <a:buNone/>
            </a:pPr>
            <a:r>
              <a:rPr lang="it-IT" dirty="0" sz="1100"/>
              <a:t xml:space="preserve">Gli agenti con Playwright devono: navigare con browser_navigate, scattare screenshot con numerazione (01-*, 02-*), scrollare per vedere tutto il contenuto, basare le conclusioni su ciò che vedono.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Screenshot Persistenti</a:t>
            </a:r>
          </a:p>
          <a:p>
            <a:pPr marL="0" indent="0">
              <a:buNone/>
            </a:pPr>
            <a:r>
              <a:rPr lang="it-IT" dirty="0" sz="1100"/>
              <a:t xml:space="preserve">• Salvati in: screenshots/&lt;feature&gt;/&lt;step&gt;/</a:t>
            </a:r>
          </a:p>
          <a:p>
            <a:pPr marL="0" indent="0">
              <a:buNone/>
            </a:pPr>
            <a:r>
              <a:rPr lang="it-IT" dirty="0" sz="1100"/>
              <a:t xml:space="preserve">• Numerazione ordinata: 01-nome.png, 02-nome.png</a:t>
            </a:r>
          </a:p>
          <a:p>
            <a:pPr marL="0" indent="0">
              <a:buNone/>
            </a:pPr>
            <a:r>
              <a:rPr lang="it-IT" dirty="0" sz="1100"/>
              <a:t xml:space="preserve">• Screenshot degli step precedenti visibili ai successivi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spcAft>
                <a:spcPts val="200"/>
              </a:spcAft>
              <a:buNone/>
            </a:pPr>
            <a:r>
              <a:rPr lang="it-IT" dirty="0" b="1" sz="1600">
                <a:solidFill>
                  <a:srgbClr val="0048FF"/>
                </a:solidFill>
              </a:rPr>
              <a:t xml:space="preserve">Prompt Injection</a:t>
            </a:r>
          </a:p>
          <a:p>
            <a:pPr marL="0" indent="0">
              <a:buNone/>
            </a:pPr>
            <a:r>
              <a:rPr lang="it-IT" dirty="0" sz="1100"/>
              <a:t xml:space="preserve">playwright_check_step() inietta un blocco obbligatorio in cima al prompt con curl check + istruzioni MCP Playwright. Include percorso screenshot e regole anti-skip.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2F574714-2550-35AD-F3DC-42220391D804}"/>
              </a:ext>
            </a:extLst>
          </p:cNvPr>
          <p:cNvSpPr txBox="1">
            <a:spLocks/>
          </p:cNvSpPr>
          <p:nvPr/>
        </p:nvSpPr>
        <p:spPr>
          <a:xfrm flipH="1">
            <a:off x="334961" y="549276"/>
            <a:ext cx="576264" cy="12588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10000"/>
                  </a:schemeClr>
                </a:solidFill>
                <a:latin typeface="Rethink Sans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solidFill>
                  <a:srgbClr val="0048FF"/>
                </a:solidFill>
              </a:rPr>
              <a:t>//</a:t>
            </a:r>
          </a:p>
          <a:p>
            <a:pPr algn="r"/>
            <a:endParaRPr lang="it-IT" dirty="0">
              <a:solidFill>
                <a:srgbClr val="0048FF"/>
              </a:solidFill>
            </a:endParaRP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1BEF770B-C59B-96E7-73CC-B318C02FC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AI-PIPELINE</a:t>
            </a:r>
            <a:endParaRPr lang="it-IT" sz="800" dirty="0"/>
          </a:p>
        </p:txBody>
      </p:sp>
      <p:sp>
        <p:nvSpPr>
          <p:cNvPr id="11" name="Segnaposto data 10">
            <a:extLst>
              <a:ext uri="{FF2B5EF4-FFF2-40B4-BE49-F238E27FC236}">
                <a16:creationId xmlns:a16="http://schemas.microsoft.com/office/drawing/2014/main" id="{29AF3087-FAFE-5FC0-D2EA-A95C0AC5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it-IT"/>
              <a:t>02/12/25</a:t>
            </a:r>
            <a:endParaRPr lang="it-IT" dirty="0"/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A106C9C3-04AF-4010-6CC4-D7755A12F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lang="it-IT"/>
              <a:t xml:space="preserve">// </a:t>
            </a:r>
            <a:fld id="{B0379C00-A7F0-FC4A-A315-5F593AF20193}" type="slidenum">
              <a:rPr lang="it-IT" smtClean="0"/>
              <a:pPr algn="l"/>
              <a:t>5</a:t>
            </a:fld>
            <a:r>
              <a:rPr lang="it-IT"/>
              <a:t xml:space="preserve"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382508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heti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48FF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EEDD1F445677B4695AEED732DF4A616" ma:contentTypeVersion="19" ma:contentTypeDescription="Creare un nuovo documento." ma:contentTypeScope="" ma:versionID="915f79d0b120f3577495915b57654407">
  <xsd:schema xmlns:xsd="http://www.w3.org/2001/XMLSchema" xmlns:xs="http://www.w3.org/2001/XMLSchema" xmlns:p="http://schemas.microsoft.com/office/2006/metadata/properties" xmlns:ns2="96db727a-4316-426e-9e20-b7690bb78a50" xmlns:ns3="119e1e62-d0b5-4272-a8ba-8d0f4feb38dc" targetNamespace="http://schemas.microsoft.com/office/2006/metadata/properties" ma:root="true" ma:fieldsID="6e8759881944cb6b008df3bb0ab1635a" ns2:_="" ns3:_="">
    <xsd:import namespace="96db727a-4316-426e-9e20-b7690bb78a50"/>
    <xsd:import namespace="119e1e62-d0b5-4272-a8ba-8d0f4feb3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db727a-4316-426e-9e20-b7690bb78a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Tag immagine" ma:readOnly="false" ma:fieldId="{5cf76f15-5ced-4ddc-b409-7134ff3c332f}" ma:taxonomyMulti="true" ma:sspId="44812905-c9bb-4a91-83fa-61610946b33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9e1e62-d0b5-4272-a8ba-8d0f4feb38d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079038f-c75c-4d84-a81a-f961a2a32004}" ma:internalName="TaxCatchAll" ma:showField="CatchAllData" ma:web="119e1e62-d0b5-4272-a8ba-8d0f4feb38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db727a-4316-426e-9e20-b7690bb78a50">
      <Terms xmlns="http://schemas.microsoft.com/office/infopath/2007/PartnerControls"/>
    </lcf76f155ced4ddcb4097134ff3c332f>
    <TaxCatchAll xmlns="119e1e62-d0b5-4272-a8ba-8d0f4feb38dc" xsi:nil="true"/>
  </documentManagement>
</p:properties>
</file>

<file path=customXml/itemProps1.xml><?xml version="1.0" encoding="utf-8"?>
<ds:datastoreItem xmlns:ds="http://schemas.openxmlformats.org/officeDocument/2006/customXml" ds:itemID="{D7EFFF66-228E-40BB-B697-EC764B41F8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F9D6AD-3287-4B0F-9A20-0470A901E36D}"/>
</file>

<file path=customXml/itemProps3.xml><?xml version="1.0" encoding="utf-8"?>
<ds:datastoreItem xmlns:ds="http://schemas.openxmlformats.org/officeDocument/2006/customXml" ds:itemID="{703AF81B-1B87-442A-BE32-7308C14798D3}">
  <ds:schemaRefs>
    <ds:schemaRef ds:uri="http://purl.org/dc/dcmitype/"/>
    <ds:schemaRef ds:uri="http://schemas.microsoft.com/office/infopath/2007/PartnerControls"/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119e1e62-d0b5-4272-a8ba-8d0f4feb38dc"/>
    <ds:schemaRef ds:uri="http://schemas.openxmlformats.org/package/2006/metadata/core-properties"/>
    <ds:schemaRef ds:uri="96db727a-4316-426e-9e20-b7690bb78a5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6280</TotalTime>
  <Words>980</Words>
  <Application>Microsoft Macintosh PowerPoint</Application>
  <PresentationFormat>Widescreen</PresentationFormat>
  <Paragraphs>112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9" baseType="lpstr">
      <vt:lpstr>Aptos</vt:lpstr>
      <vt:lpstr>Arial</vt:lpstr>
      <vt:lpstr>Rethink Sans</vt:lpstr>
      <vt:lpstr>Rethink Sans ExtraBold</vt:lpstr>
      <vt:lpstr>Sometype Mono</vt:lpstr>
      <vt:lpstr>Tema di Office</vt:lpstr>
      <vt:lpstr>TITOLO PRESENTAZIONE</vt:lpstr>
      <vt:lpstr>TITOLO PRESENTAZIONE</vt:lpstr>
      <vt:lpstr>Slide titolo + paragrafo di testo</vt:lpstr>
      <vt:lpstr>Indice / agenda</vt:lpstr>
      <vt:lpstr>Slide testo largo + immagine lato</vt:lpstr>
      <vt:lpstr>Slide testo +  immagine grande</vt:lpstr>
      <vt:lpstr>Slide testo su immagine a tutto campo</vt:lpstr>
      <vt:lpstr>Slide titolo + testo a 2 colonne</vt:lpstr>
      <vt:lpstr>Slide titolo + 3 blocchi</vt:lpstr>
      <vt:lpstr>Slide titolo + 3 blocchi</vt:lpstr>
      <vt:lpstr>Contatti</vt:lpstr>
      <vt:lpstr>Icone specifiche</vt:lpstr>
      <vt:lpstr>Icone generiche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Toffanello</dc:creator>
  <cp:lastModifiedBy>Andrea Toffanello</cp:lastModifiedBy>
  <cp:revision>1</cp:revision>
  <dcterms:created xsi:type="dcterms:W3CDTF">2025-11-28T15:21:19Z</dcterms:created>
  <dcterms:modified xsi:type="dcterms:W3CDTF">2026-02-17T12:54:28Z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0x010100DEEDD1F445677B4695AEED732DF4A616</vt:lpwstr>
  </property>
  <property fmtid="{D5CDD505-2E9C-101B-9397-08002B2CF9AE}" pid="3" name="MediaServiceImageTags">
    <vt:lpwstr/>
  </property>
</Properties>
</file>